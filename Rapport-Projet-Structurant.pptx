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4" Type="http://schemas.openxmlformats.org/officeDocument/2006/relationships/hyperlink" Target="https://gamma.app" TargetMode="Externa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7" Type="http://schemas.openxmlformats.org/officeDocument/2006/relationships/hyperlink" Target="https://gamma.app"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7" Type="http://schemas.openxmlformats.org/officeDocument/2006/relationships/hyperlink" Target="https://gamma.app" TargetMode="External"/><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sp>
        <p:nvSpPr>
          <p:cNvPr id="5" name="Text 1"/>
          <p:cNvSpPr/>
          <p:nvPr/>
        </p:nvSpPr>
        <p:spPr>
          <a:xfrm>
            <a:off x="6350437" y="1652111"/>
            <a:ext cx="7184707" cy="617101"/>
          </a:xfrm>
          <a:prstGeom prst="rect">
            <a:avLst/>
          </a:prstGeom>
          <a:noFill/>
          <a:ln/>
        </p:spPr>
        <p:txBody>
          <a:bodyPr wrap="none" rtlCol="0" anchor="t"/>
          <a:lstStyle/>
          <a:p>
            <a:pPr indent="0" marL="0">
              <a:lnSpc>
                <a:spcPts val="4860"/>
              </a:lnSpc>
              <a:buNone/>
            </a:pPr>
            <a:r>
              <a:rPr lang="en-US" sz="3888" dirty="0">
                <a:solidFill>
                  <a:srgbClr val="910D0D"/>
                </a:solidFill>
                <a:latin typeface="Libre Baskerville" pitchFamily="34" charset="0"/>
                <a:ea typeface="Libre Baskerville" pitchFamily="34" charset="-122"/>
                <a:cs typeface="Libre Baskerville" pitchFamily="34" charset="-120"/>
              </a:rPr>
              <a:t>Rapport Projet Structurant : </a:t>
            </a:r>
            <a:endParaRPr lang="en-US" sz="3888" dirty="0"/>
          </a:p>
        </p:txBody>
      </p:sp>
      <p:sp>
        <p:nvSpPr>
          <p:cNvPr id="6" name="Text 2"/>
          <p:cNvSpPr/>
          <p:nvPr/>
        </p:nvSpPr>
        <p:spPr>
          <a:xfrm>
            <a:off x="6350437" y="2546866"/>
            <a:ext cx="7415927" cy="987504"/>
          </a:xfrm>
          <a:prstGeom prst="rect">
            <a:avLst/>
          </a:prstGeom>
          <a:noFill/>
          <a:ln/>
        </p:spPr>
        <p:txBody>
          <a:bodyPr wrap="square" rtlCol="0" anchor="t"/>
          <a:lstStyle/>
          <a:p>
            <a:pPr indent="0" marL="0">
              <a:lnSpc>
                <a:spcPts val="3888"/>
              </a:lnSpc>
              <a:buNone/>
            </a:pPr>
            <a:r>
              <a:rPr lang="en-US" sz="2430" dirty="0">
                <a:solidFill>
                  <a:srgbClr val="F44444"/>
                </a:solidFill>
                <a:latin typeface="DM Sans" pitchFamily="34" charset="0"/>
                <a:ea typeface="DM Sans" pitchFamily="34" charset="-122"/>
                <a:cs typeface="DM Sans" pitchFamily="34" charset="-120"/>
              </a:rPr>
              <a:t>Réalisation d'une Application de Gestion des Boulangeries</a:t>
            </a:r>
            <a:endParaRPr lang="en-US" sz="2430" dirty="0"/>
          </a:p>
        </p:txBody>
      </p:sp>
      <p:sp>
        <p:nvSpPr>
          <p:cNvPr id="7" name="Text 3"/>
          <p:cNvSpPr/>
          <p:nvPr/>
        </p:nvSpPr>
        <p:spPr>
          <a:xfrm>
            <a:off x="6350437" y="3812024"/>
            <a:ext cx="7415927" cy="2765346"/>
          </a:xfrm>
          <a:prstGeom prst="rect">
            <a:avLst/>
          </a:prstGeom>
          <a:noFill/>
          <a:ln/>
        </p:spPr>
        <p:txBody>
          <a:bodyPr wrap="square" rtlCol="0" anchor="t"/>
          <a:lstStyle/>
          <a:p>
            <a:pPr indent="0" marL="0">
              <a:lnSpc>
                <a:spcPts val="3110"/>
              </a:lnSpc>
              <a:buNone/>
            </a:pPr>
            <a:r>
              <a:rPr lang="en-US" sz="1944" dirty="0">
                <a:solidFill>
                  <a:srgbClr val="454240"/>
                </a:solidFill>
                <a:latin typeface="DM Sans" pitchFamily="34" charset="0"/>
                <a:ea typeface="DM Sans" pitchFamily="34" charset="-122"/>
                <a:cs typeface="DM Sans" pitchFamily="34" charset="-120"/>
              </a:rPr>
              <a:t>Les secteurs de la restauration et de la pâtisserie ont connu une avancée technologique permettant de mieux gérer leurs établissements et réduire les pertes. Afin de contribuer à cette amélioration et approfondir mes compétences en programmation, j'ai été chargé de concevoir une application de gestion des stocks pour les boulangeries. Ce projet a été subdivisé en quatre chapitres :</a:t>
            </a:r>
            <a:endParaRPr lang="en-US" sz="1944" dirty="0"/>
          </a:p>
        </p:txBody>
      </p:sp>
      <p:pic>
        <p:nvPicPr>
          <p:cNvPr id="8"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sp>
        <p:nvSpPr>
          <p:cNvPr id="5" name="Text 1"/>
          <p:cNvSpPr/>
          <p:nvPr/>
        </p:nvSpPr>
        <p:spPr>
          <a:xfrm>
            <a:off x="6091238" y="616268"/>
            <a:ext cx="7478673" cy="540068"/>
          </a:xfrm>
          <a:prstGeom prst="rect">
            <a:avLst/>
          </a:prstGeom>
          <a:noFill/>
          <a:ln/>
        </p:spPr>
        <p:txBody>
          <a:bodyPr wrap="none" rtlCol="0" anchor="t"/>
          <a:lstStyle/>
          <a:p>
            <a:pPr indent="0" marL="0">
              <a:lnSpc>
                <a:spcPts val="4253"/>
              </a:lnSpc>
              <a:buNone/>
            </a:pPr>
            <a:r>
              <a:rPr lang="en-US" sz="3402" dirty="0">
                <a:solidFill>
                  <a:srgbClr val="910D0D"/>
                </a:solidFill>
                <a:latin typeface="Libre Baskerville" pitchFamily="34" charset="0"/>
                <a:ea typeface="Libre Baskerville" pitchFamily="34" charset="-122"/>
                <a:cs typeface="Libre Baskerville" pitchFamily="34" charset="-120"/>
              </a:rPr>
              <a:t> Etude Theorique / L'Etat De L'Art</a:t>
            </a:r>
            <a:endParaRPr lang="en-US" sz="3402" dirty="0"/>
          </a:p>
        </p:txBody>
      </p:sp>
      <p:sp>
        <p:nvSpPr>
          <p:cNvPr id="6" name="Shape 2"/>
          <p:cNvSpPr/>
          <p:nvPr/>
        </p:nvSpPr>
        <p:spPr>
          <a:xfrm>
            <a:off x="6091238" y="1609844"/>
            <a:ext cx="388739" cy="388739"/>
          </a:xfrm>
          <a:prstGeom prst="roundRect">
            <a:avLst>
              <a:gd name="adj" fmla="val 20006"/>
            </a:avLst>
          </a:prstGeom>
          <a:solidFill>
            <a:srgbClr val="F7EDD4"/>
          </a:solidFill>
          <a:ln w="7620">
            <a:solidFill>
              <a:srgbClr val="DDD3BA"/>
            </a:solidFill>
            <a:prstDash val="solid"/>
          </a:ln>
        </p:spPr>
      </p:sp>
      <p:sp>
        <p:nvSpPr>
          <p:cNvPr id="7" name="Text 3"/>
          <p:cNvSpPr/>
          <p:nvPr/>
        </p:nvSpPr>
        <p:spPr>
          <a:xfrm>
            <a:off x="6227802" y="1674614"/>
            <a:ext cx="115610" cy="259199"/>
          </a:xfrm>
          <a:prstGeom prst="rect">
            <a:avLst/>
          </a:prstGeom>
          <a:noFill/>
          <a:ln/>
        </p:spPr>
        <p:txBody>
          <a:bodyPr wrap="none" rtlCol="0" anchor="t"/>
          <a:lstStyle/>
          <a:p>
            <a:pPr algn="ctr" indent="0" marL="0">
              <a:lnSpc>
                <a:spcPts val="2041"/>
              </a:lnSpc>
              <a:buNone/>
            </a:pPr>
            <a:r>
              <a:rPr lang="en-US" sz="2041" dirty="0">
                <a:solidFill>
                  <a:srgbClr val="454240"/>
                </a:solidFill>
                <a:latin typeface="Libre Baskerville" pitchFamily="34" charset="0"/>
                <a:ea typeface="Libre Baskerville" pitchFamily="34" charset="-122"/>
                <a:cs typeface="Libre Baskerville" pitchFamily="34" charset="-120"/>
              </a:rPr>
              <a:t>1</a:t>
            </a:r>
            <a:endParaRPr lang="en-US" sz="2041" dirty="0"/>
          </a:p>
        </p:txBody>
      </p:sp>
      <p:sp>
        <p:nvSpPr>
          <p:cNvPr id="8" name="Text 4"/>
          <p:cNvSpPr/>
          <p:nvPr/>
        </p:nvSpPr>
        <p:spPr>
          <a:xfrm>
            <a:off x="6652736" y="1609844"/>
            <a:ext cx="3109079" cy="269915"/>
          </a:xfrm>
          <a:prstGeom prst="rect">
            <a:avLst/>
          </a:prstGeom>
          <a:noFill/>
          <a:ln/>
        </p:spPr>
        <p:txBody>
          <a:bodyPr wrap="none" rtlCol="0" anchor="t"/>
          <a:lstStyle/>
          <a:p>
            <a:pPr indent="0" marL="0">
              <a:lnSpc>
                <a:spcPts val="2126"/>
              </a:lnSpc>
              <a:buNone/>
            </a:pPr>
            <a:r>
              <a:rPr lang="en-US" sz="1701" dirty="0">
                <a:solidFill>
                  <a:srgbClr val="F44444"/>
                </a:solidFill>
                <a:latin typeface="Libre Baskerville" pitchFamily="34" charset="0"/>
                <a:ea typeface="Libre Baskerville" pitchFamily="34" charset="-122"/>
                <a:cs typeface="Libre Baskerville" pitchFamily="34" charset="-120"/>
              </a:rPr>
              <a:t>Définition de la boulangerie</a:t>
            </a:r>
            <a:endParaRPr lang="en-US" sz="1701" dirty="0"/>
          </a:p>
        </p:txBody>
      </p:sp>
      <p:sp>
        <p:nvSpPr>
          <p:cNvPr id="9" name="Text 5"/>
          <p:cNvSpPr/>
          <p:nvPr/>
        </p:nvSpPr>
        <p:spPr>
          <a:xfrm>
            <a:off x="6652736" y="1983343"/>
            <a:ext cx="7372826" cy="1106329"/>
          </a:xfrm>
          <a:prstGeom prst="rect">
            <a:avLst/>
          </a:prstGeom>
          <a:noFill/>
          <a:ln/>
        </p:spPr>
        <p:txBody>
          <a:bodyPr wrap="squar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La boulangerie est un établissement de production et de vente de pain, de viennoiseries et de pâtisseries. C'est une entreprise artisanale ou industrielle qui transforme des matières premières comme la farine, l'eau, la levure et le sel pour fabriquer des produits de boulangerie.</a:t>
            </a:r>
            <a:endParaRPr lang="en-US" sz="1361" dirty="0"/>
          </a:p>
        </p:txBody>
      </p:sp>
      <p:sp>
        <p:nvSpPr>
          <p:cNvPr id="10" name="Shape 6"/>
          <p:cNvSpPr/>
          <p:nvPr/>
        </p:nvSpPr>
        <p:spPr>
          <a:xfrm>
            <a:off x="6091238" y="3456742"/>
            <a:ext cx="388739" cy="388739"/>
          </a:xfrm>
          <a:prstGeom prst="roundRect">
            <a:avLst>
              <a:gd name="adj" fmla="val 20006"/>
            </a:avLst>
          </a:prstGeom>
          <a:solidFill>
            <a:srgbClr val="F7EDD4"/>
          </a:solidFill>
          <a:ln w="7620">
            <a:solidFill>
              <a:srgbClr val="DDD3BA"/>
            </a:solidFill>
            <a:prstDash val="solid"/>
          </a:ln>
        </p:spPr>
      </p:sp>
      <p:sp>
        <p:nvSpPr>
          <p:cNvPr id="11" name="Text 7"/>
          <p:cNvSpPr/>
          <p:nvPr/>
        </p:nvSpPr>
        <p:spPr>
          <a:xfrm>
            <a:off x="6205657" y="3521512"/>
            <a:ext cx="159782" cy="259199"/>
          </a:xfrm>
          <a:prstGeom prst="rect">
            <a:avLst/>
          </a:prstGeom>
          <a:noFill/>
          <a:ln/>
        </p:spPr>
        <p:txBody>
          <a:bodyPr wrap="none" rtlCol="0" anchor="t"/>
          <a:lstStyle/>
          <a:p>
            <a:pPr algn="ctr" indent="0" marL="0">
              <a:lnSpc>
                <a:spcPts val="2041"/>
              </a:lnSpc>
              <a:buNone/>
            </a:pPr>
            <a:r>
              <a:rPr lang="en-US" sz="2041" dirty="0">
                <a:solidFill>
                  <a:srgbClr val="454240"/>
                </a:solidFill>
                <a:latin typeface="Libre Baskerville" pitchFamily="34" charset="0"/>
                <a:ea typeface="Libre Baskerville" pitchFamily="34" charset="-122"/>
                <a:cs typeface="Libre Baskerville" pitchFamily="34" charset="-120"/>
              </a:rPr>
              <a:t>2</a:t>
            </a:r>
            <a:endParaRPr lang="en-US" sz="2041" dirty="0"/>
          </a:p>
        </p:txBody>
      </p:sp>
      <p:sp>
        <p:nvSpPr>
          <p:cNvPr id="12" name="Text 8"/>
          <p:cNvSpPr/>
          <p:nvPr/>
        </p:nvSpPr>
        <p:spPr>
          <a:xfrm>
            <a:off x="6652736" y="3456742"/>
            <a:ext cx="2464594" cy="269915"/>
          </a:xfrm>
          <a:prstGeom prst="rect">
            <a:avLst/>
          </a:prstGeom>
          <a:noFill/>
          <a:ln/>
        </p:spPr>
        <p:txBody>
          <a:bodyPr wrap="none" rtlCol="0" anchor="t"/>
          <a:lstStyle/>
          <a:p>
            <a:pPr indent="0" marL="0">
              <a:lnSpc>
                <a:spcPts val="2126"/>
              </a:lnSpc>
              <a:buNone/>
            </a:pPr>
            <a:r>
              <a:rPr lang="en-US" sz="1701" dirty="0">
                <a:solidFill>
                  <a:srgbClr val="F44444"/>
                </a:solidFill>
                <a:latin typeface="Libre Baskerville" pitchFamily="34" charset="0"/>
                <a:ea typeface="Libre Baskerville" pitchFamily="34" charset="-122"/>
                <a:cs typeface="Libre Baskerville" pitchFamily="34" charset="-120"/>
              </a:rPr>
              <a:t>Rôle de la boulangerie</a:t>
            </a:r>
            <a:endParaRPr lang="en-US" sz="1701" dirty="0"/>
          </a:p>
        </p:txBody>
      </p:sp>
      <p:sp>
        <p:nvSpPr>
          <p:cNvPr id="13" name="Text 9"/>
          <p:cNvSpPr/>
          <p:nvPr/>
        </p:nvSpPr>
        <p:spPr>
          <a:xfrm>
            <a:off x="6652736" y="3830241"/>
            <a:ext cx="7372826" cy="1106329"/>
          </a:xfrm>
          <a:prstGeom prst="rect">
            <a:avLst/>
          </a:prstGeom>
          <a:noFill/>
          <a:ln/>
        </p:spPr>
        <p:txBody>
          <a:bodyPr wrap="squar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Le rôle principal de la boulangerie est de fournir des produits de boulangerie frais et de qualité à sa clientèle. Elle participe ainsi à l'approvisionnement alimentaire local et contribue à la vie économique de son territoire. La boulangerie peut également jouer un rôle social au sein de la communauté.</a:t>
            </a:r>
            <a:endParaRPr lang="en-US" sz="1361" dirty="0"/>
          </a:p>
        </p:txBody>
      </p:sp>
      <p:sp>
        <p:nvSpPr>
          <p:cNvPr id="14" name="Shape 10"/>
          <p:cNvSpPr/>
          <p:nvPr/>
        </p:nvSpPr>
        <p:spPr>
          <a:xfrm>
            <a:off x="6091238" y="5303639"/>
            <a:ext cx="388739" cy="388739"/>
          </a:xfrm>
          <a:prstGeom prst="roundRect">
            <a:avLst>
              <a:gd name="adj" fmla="val 20006"/>
            </a:avLst>
          </a:prstGeom>
          <a:solidFill>
            <a:srgbClr val="F7EDD4"/>
          </a:solidFill>
          <a:ln w="7620">
            <a:solidFill>
              <a:srgbClr val="DDD3BA"/>
            </a:solidFill>
            <a:prstDash val="solid"/>
          </a:ln>
        </p:spPr>
      </p:sp>
      <p:sp>
        <p:nvSpPr>
          <p:cNvPr id="15" name="Text 11"/>
          <p:cNvSpPr/>
          <p:nvPr/>
        </p:nvSpPr>
        <p:spPr>
          <a:xfrm>
            <a:off x="6205657" y="5368409"/>
            <a:ext cx="159782" cy="259199"/>
          </a:xfrm>
          <a:prstGeom prst="rect">
            <a:avLst/>
          </a:prstGeom>
          <a:noFill/>
          <a:ln/>
        </p:spPr>
        <p:txBody>
          <a:bodyPr wrap="none" rtlCol="0" anchor="t"/>
          <a:lstStyle/>
          <a:p>
            <a:pPr algn="ctr" indent="0" marL="0">
              <a:lnSpc>
                <a:spcPts val="2041"/>
              </a:lnSpc>
              <a:buNone/>
            </a:pPr>
            <a:r>
              <a:rPr lang="en-US" sz="2041" dirty="0">
                <a:solidFill>
                  <a:srgbClr val="454240"/>
                </a:solidFill>
                <a:latin typeface="Libre Baskerville" pitchFamily="34" charset="0"/>
                <a:ea typeface="Libre Baskerville" pitchFamily="34" charset="-122"/>
                <a:cs typeface="Libre Baskerville" pitchFamily="34" charset="-120"/>
              </a:rPr>
              <a:t>3</a:t>
            </a:r>
            <a:endParaRPr lang="en-US" sz="2041" dirty="0"/>
          </a:p>
        </p:txBody>
      </p:sp>
      <p:sp>
        <p:nvSpPr>
          <p:cNvPr id="16" name="Text 12"/>
          <p:cNvSpPr/>
          <p:nvPr/>
        </p:nvSpPr>
        <p:spPr>
          <a:xfrm>
            <a:off x="6652736" y="5303639"/>
            <a:ext cx="3011686" cy="269915"/>
          </a:xfrm>
          <a:prstGeom prst="rect">
            <a:avLst/>
          </a:prstGeom>
          <a:noFill/>
          <a:ln/>
        </p:spPr>
        <p:txBody>
          <a:bodyPr wrap="none" rtlCol="0" anchor="t"/>
          <a:lstStyle/>
          <a:p>
            <a:pPr indent="0" marL="0">
              <a:lnSpc>
                <a:spcPts val="2126"/>
              </a:lnSpc>
              <a:buNone/>
            </a:pPr>
            <a:r>
              <a:rPr lang="en-US" sz="1701" dirty="0">
                <a:solidFill>
                  <a:srgbClr val="F44444"/>
                </a:solidFill>
                <a:latin typeface="Libre Baskerville" pitchFamily="34" charset="0"/>
                <a:ea typeface="Libre Baskerville" pitchFamily="34" charset="-122"/>
                <a:cs typeface="Libre Baskerville" pitchFamily="34" charset="-120"/>
              </a:rPr>
              <a:t>Structure organisationnelle</a:t>
            </a:r>
            <a:endParaRPr lang="en-US" sz="1701" dirty="0"/>
          </a:p>
        </p:txBody>
      </p:sp>
      <p:sp>
        <p:nvSpPr>
          <p:cNvPr id="17" name="Text 13"/>
          <p:cNvSpPr/>
          <p:nvPr/>
        </p:nvSpPr>
        <p:spPr>
          <a:xfrm>
            <a:off x="6652736" y="5677138"/>
            <a:ext cx="7372826" cy="1936075"/>
          </a:xfrm>
          <a:prstGeom prst="rect">
            <a:avLst/>
          </a:prstGeom>
          <a:noFill/>
          <a:ln/>
        </p:spPr>
        <p:txBody>
          <a:bodyPr wrap="squar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Le boulanger : il est le responsable de la fabrication du pain et des viennoiseries. Il supervise l'ensemble du processus de production. Le pâtissier : il est chargé de la préparation des pâtisseries et desserts. Le vendeur : il accueille les clients en boutique et assure la vente des produits. Le gestionnaire : il s'occupe de la gestion administrative, financière et commerciale de la boulangerie. Le personnel de soutien : il réalise les tâches de nettoyage, d'entretien et de logistique. Notez que, cette structure peut varier selon la taille et l'organisation de la boulangerie, mais ces différents rôles sont généralement présents.</a:t>
            </a:r>
            <a:endParaRPr lang="en-US" sz="1361" dirty="0"/>
          </a:p>
        </p:txBody>
      </p:sp>
      <p:pic>
        <p:nvPicPr>
          <p:cNvPr id="18"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sp>
        <p:nvSpPr>
          <p:cNvPr id="4" name="Text 1"/>
          <p:cNvSpPr/>
          <p:nvPr/>
        </p:nvSpPr>
        <p:spPr>
          <a:xfrm>
            <a:off x="864037" y="1812607"/>
            <a:ext cx="6962894" cy="771525"/>
          </a:xfrm>
          <a:prstGeom prst="rect">
            <a:avLst/>
          </a:prstGeom>
          <a:noFill/>
          <a:ln/>
        </p:spPr>
        <p:txBody>
          <a:bodyPr wrap="none" rtlCol="0" anchor="t"/>
          <a:lstStyle/>
          <a:p>
            <a:pPr indent="0" marL="0">
              <a:lnSpc>
                <a:spcPts val="6075"/>
              </a:lnSpc>
              <a:buNone/>
            </a:pPr>
            <a:r>
              <a:rPr lang="en-US" sz="4860" dirty="0">
                <a:solidFill>
                  <a:srgbClr val="F44444"/>
                </a:solidFill>
                <a:latin typeface="Libre Baskerville" pitchFamily="34" charset="0"/>
                <a:ea typeface="Libre Baskerville" pitchFamily="34" charset="-122"/>
                <a:cs typeface="Libre Baskerville" pitchFamily="34" charset="-120"/>
              </a:rPr>
              <a:t> Analyse De L'Existant</a:t>
            </a:r>
            <a:endParaRPr lang="en-US" sz="4860" dirty="0"/>
          </a:p>
        </p:txBody>
      </p:sp>
      <p:sp>
        <p:nvSpPr>
          <p:cNvPr id="5" name="Text 2"/>
          <p:cNvSpPr/>
          <p:nvPr/>
        </p:nvSpPr>
        <p:spPr>
          <a:xfrm>
            <a:off x="864037" y="3201233"/>
            <a:ext cx="3898821" cy="771525"/>
          </a:xfrm>
          <a:prstGeom prst="rect">
            <a:avLst/>
          </a:prstGeom>
          <a:noFill/>
          <a:ln/>
        </p:spPr>
        <p:txBody>
          <a:bodyPr wrap="square" rtlCol="0" anchor="t"/>
          <a:lstStyle/>
          <a:p>
            <a:pPr indent="0" marL="0">
              <a:lnSpc>
                <a:spcPts val="3038"/>
              </a:lnSpc>
              <a:buNone/>
            </a:pPr>
            <a:r>
              <a:rPr lang="en-US" sz="2430" dirty="0">
                <a:solidFill>
                  <a:srgbClr val="B05EF1"/>
                </a:solidFill>
                <a:latin typeface="Libre Baskerville" pitchFamily="34" charset="0"/>
                <a:ea typeface="Libre Baskerville" pitchFamily="34" charset="-122"/>
                <a:cs typeface="Libre Baskerville" pitchFamily="34" charset="-120"/>
              </a:rPr>
              <a:t>Fonctionnalités principales</a:t>
            </a:r>
            <a:endParaRPr lang="en-US" sz="2430" dirty="0"/>
          </a:p>
        </p:txBody>
      </p:sp>
      <p:sp>
        <p:nvSpPr>
          <p:cNvPr id="6" name="Text 3"/>
          <p:cNvSpPr/>
          <p:nvPr/>
        </p:nvSpPr>
        <p:spPr>
          <a:xfrm>
            <a:off x="864037" y="4219575"/>
            <a:ext cx="3898821" cy="1975247"/>
          </a:xfrm>
          <a:prstGeom prst="rect">
            <a:avLst/>
          </a:prstGeom>
          <a:noFill/>
          <a:ln/>
        </p:spPr>
        <p:txBody>
          <a:bodyPr wrap="square" rtlCol="0" anchor="t"/>
          <a:lstStyle/>
          <a:p>
            <a:pPr indent="0" marL="0">
              <a:lnSpc>
                <a:spcPts val="3110"/>
              </a:lnSpc>
              <a:buNone/>
            </a:pPr>
            <a:r>
              <a:rPr lang="en-US" sz="1944" dirty="0">
                <a:solidFill>
                  <a:srgbClr val="454240"/>
                </a:solidFill>
                <a:latin typeface="DM Sans" pitchFamily="34" charset="0"/>
                <a:ea typeface="DM Sans" pitchFamily="34" charset="-122"/>
                <a:cs typeface="DM Sans" pitchFamily="34" charset="-120"/>
              </a:rPr>
              <a:t>gestion des fournisseurs, des bons de commande, des réceptions, des inventaires, des alertes de seuils, génération de rapports.</a:t>
            </a:r>
            <a:endParaRPr lang="en-US" sz="1944" dirty="0"/>
          </a:p>
        </p:txBody>
      </p:sp>
      <p:sp>
        <p:nvSpPr>
          <p:cNvPr id="7" name="Text 4"/>
          <p:cNvSpPr/>
          <p:nvPr/>
        </p:nvSpPr>
        <p:spPr>
          <a:xfrm>
            <a:off x="5372695" y="3201233"/>
            <a:ext cx="3086100" cy="385763"/>
          </a:xfrm>
          <a:prstGeom prst="rect">
            <a:avLst/>
          </a:prstGeom>
          <a:noFill/>
          <a:ln/>
        </p:spPr>
        <p:txBody>
          <a:bodyPr wrap="none" rtlCol="0" anchor="t"/>
          <a:lstStyle/>
          <a:p>
            <a:pPr indent="0" marL="0">
              <a:lnSpc>
                <a:spcPts val="3038"/>
              </a:lnSpc>
              <a:buNone/>
            </a:pPr>
            <a:r>
              <a:rPr lang="en-US" sz="2430" dirty="0">
                <a:solidFill>
                  <a:srgbClr val="B05EF1"/>
                </a:solidFill>
                <a:latin typeface="Libre Baskerville" pitchFamily="34" charset="0"/>
                <a:ea typeface="Libre Baskerville" pitchFamily="34" charset="-122"/>
                <a:cs typeface="Libre Baskerville" pitchFamily="34" charset="-120"/>
              </a:rPr>
              <a:t>Avantages</a:t>
            </a:r>
            <a:endParaRPr lang="en-US" sz="2430" dirty="0"/>
          </a:p>
        </p:txBody>
      </p:sp>
      <p:sp>
        <p:nvSpPr>
          <p:cNvPr id="8" name="Text 5"/>
          <p:cNvSpPr/>
          <p:nvPr/>
        </p:nvSpPr>
        <p:spPr>
          <a:xfrm>
            <a:off x="5372695" y="3833813"/>
            <a:ext cx="3898821" cy="1185148"/>
          </a:xfrm>
          <a:prstGeom prst="rect">
            <a:avLst/>
          </a:prstGeom>
          <a:noFill/>
          <a:ln/>
        </p:spPr>
        <p:txBody>
          <a:bodyPr wrap="square" rtlCol="0" anchor="t"/>
          <a:lstStyle/>
          <a:p>
            <a:pPr indent="0" marL="0">
              <a:lnSpc>
                <a:spcPts val="3110"/>
              </a:lnSpc>
              <a:buNone/>
            </a:pPr>
            <a:r>
              <a:rPr lang="en-US" sz="1944" dirty="0">
                <a:solidFill>
                  <a:srgbClr val="454240"/>
                </a:solidFill>
                <a:latin typeface="DM Sans" pitchFamily="34" charset="0"/>
                <a:ea typeface="DM Sans" pitchFamily="34" charset="-122"/>
                <a:cs typeface="DM Sans" pitchFamily="34" charset="-120"/>
              </a:rPr>
              <a:t>automatisation des tâches, meilleure visibilité sur les stocks, aide à la prise de décision.</a:t>
            </a:r>
            <a:endParaRPr lang="en-US" sz="1944" dirty="0"/>
          </a:p>
        </p:txBody>
      </p:sp>
      <p:sp>
        <p:nvSpPr>
          <p:cNvPr id="9" name="Text 6"/>
          <p:cNvSpPr/>
          <p:nvPr/>
        </p:nvSpPr>
        <p:spPr>
          <a:xfrm>
            <a:off x="9881354" y="3201233"/>
            <a:ext cx="3086100" cy="385763"/>
          </a:xfrm>
          <a:prstGeom prst="rect">
            <a:avLst/>
          </a:prstGeom>
          <a:noFill/>
          <a:ln/>
        </p:spPr>
        <p:txBody>
          <a:bodyPr wrap="none" rtlCol="0" anchor="t"/>
          <a:lstStyle/>
          <a:p>
            <a:pPr indent="0" marL="0">
              <a:lnSpc>
                <a:spcPts val="3038"/>
              </a:lnSpc>
              <a:buNone/>
            </a:pPr>
            <a:r>
              <a:rPr lang="en-US" sz="2430" dirty="0">
                <a:solidFill>
                  <a:srgbClr val="B05EF1"/>
                </a:solidFill>
                <a:latin typeface="Libre Baskerville" pitchFamily="34" charset="0"/>
                <a:ea typeface="Libre Baskerville" pitchFamily="34" charset="-122"/>
                <a:cs typeface="Libre Baskerville" pitchFamily="34" charset="-120"/>
              </a:rPr>
              <a:t>Limites</a:t>
            </a:r>
            <a:endParaRPr lang="en-US" sz="2430" dirty="0"/>
          </a:p>
        </p:txBody>
      </p:sp>
      <p:sp>
        <p:nvSpPr>
          <p:cNvPr id="10" name="Text 7"/>
          <p:cNvSpPr/>
          <p:nvPr/>
        </p:nvSpPr>
        <p:spPr>
          <a:xfrm>
            <a:off x="9881354" y="3833813"/>
            <a:ext cx="3898821" cy="1580198"/>
          </a:xfrm>
          <a:prstGeom prst="rect">
            <a:avLst/>
          </a:prstGeom>
          <a:noFill/>
          <a:ln/>
        </p:spPr>
        <p:txBody>
          <a:bodyPr wrap="square" rtlCol="0" anchor="t"/>
          <a:lstStyle/>
          <a:p>
            <a:pPr indent="0" marL="0">
              <a:lnSpc>
                <a:spcPts val="3110"/>
              </a:lnSpc>
              <a:buNone/>
            </a:pPr>
            <a:r>
              <a:rPr lang="en-US" sz="1944" dirty="0">
                <a:solidFill>
                  <a:srgbClr val="454240"/>
                </a:solidFill>
                <a:latin typeface="DM Sans" pitchFamily="34" charset="0"/>
                <a:ea typeface="DM Sans" pitchFamily="34" charset="-122"/>
                <a:cs typeface="DM Sans" pitchFamily="34" charset="-120"/>
              </a:rPr>
              <a:t>manque de flexibilité, intégration limitée avec d'autres outils, ergonomie parfois complexe pour les utilisateurs.</a:t>
            </a:r>
            <a:endParaRPr lang="en-US" sz="1944" dirty="0"/>
          </a:p>
        </p:txBody>
      </p:sp>
      <p:pic>
        <p:nvPicPr>
          <p:cNvPr id="11"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p:cNvPr>
          <p:cNvPicPr>
            <a:picLocks noChangeAspect="1"/>
          </p:cNvPicPr>
          <p:nvPr/>
        </p:nvPicPr>
        <p:blipFill>
          <a:blip r:embed="rId2"/>
          <a:stretch>
            <a:fillRect/>
          </a:stretch>
        </p:blipFill>
        <p:spPr>
          <a:xfrm>
            <a:off x="0" y="0"/>
            <a:ext cx="5486400" cy="8229600"/>
          </a:xfrm>
          <a:prstGeom prst="rect">
            <a:avLst/>
          </a:prstGeom>
        </p:spPr>
      </p:pic>
      <p:sp>
        <p:nvSpPr>
          <p:cNvPr id="5" name="Text 1"/>
          <p:cNvSpPr/>
          <p:nvPr/>
        </p:nvSpPr>
        <p:spPr>
          <a:xfrm>
            <a:off x="6091238" y="887730"/>
            <a:ext cx="7934325" cy="1080135"/>
          </a:xfrm>
          <a:prstGeom prst="rect">
            <a:avLst/>
          </a:prstGeom>
          <a:noFill/>
          <a:ln/>
        </p:spPr>
        <p:txBody>
          <a:bodyPr wrap="square" rtlCol="0" anchor="t"/>
          <a:lstStyle/>
          <a:p>
            <a:pPr indent="0" marL="0">
              <a:lnSpc>
                <a:spcPts val="4253"/>
              </a:lnSpc>
              <a:buNone/>
            </a:pPr>
            <a:r>
              <a:rPr lang="en-US" sz="3402" dirty="0">
                <a:solidFill>
                  <a:srgbClr val="F44444"/>
                </a:solidFill>
                <a:latin typeface="Libre Baskerville" pitchFamily="34" charset="0"/>
                <a:ea typeface="Libre Baskerville" pitchFamily="34" charset="-122"/>
                <a:cs typeface="Libre Baskerville" pitchFamily="34" charset="-120"/>
              </a:rPr>
              <a:t>Analyse Des Fonctionnalités, Avantages Et Limites</a:t>
            </a:r>
            <a:endParaRPr lang="en-US" sz="3402" dirty="0"/>
          </a:p>
        </p:txBody>
      </p:sp>
      <p:sp>
        <p:nvSpPr>
          <p:cNvPr id="6" name="Shape 2"/>
          <p:cNvSpPr/>
          <p:nvPr/>
        </p:nvSpPr>
        <p:spPr>
          <a:xfrm>
            <a:off x="6091238" y="2227064"/>
            <a:ext cx="7934325" cy="1010841"/>
          </a:xfrm>
          <a:prstGeom prst="roundRect">
            <a:avLst>
              <a:gd name="adj" fmla="val 7694"/>
            </a:avLst>
          </a:prstGeom>
          <a:solidFill>
            <a:srgbClr val="F7EDD4"/>
          </a:solidFill>
          <a:ln w="7620">
            <a:solidFill>
              <a:srgbClr val="DDD3BA"/>
            </a:solidFill>
            <a:prstDash val="solid"/>
          </a:ln>
        </p:spPr>
      </p:sp>
      <p:sp>
        <p:nvSpPr>
          <p:cNvPr id="7" name="Text 3"/>
          <p:cNvSpPr/>
          <p:nvPr/>
        </p:nvSpPr>
        <p:spPr>
          <a:xfrm>
            <a:off x="6271617" y="2407444"/>
            <a:ext cx="4174093" cy="269915"/>
          </a:xfrm>
          <a:prstGeom prst="rect">
            <a:avLst/>
          </a:prstGeom>
          <a:noFill/>
          <a:ln/>
        </p:spPr>
        <p:txBody>
          <a:bodyPr wrap="none" rtlCol="0" anchor="t"/>
          <a:lstStyle/>
          <a:p>
            <a:pPr indent="0" marL="0">
              <a:lnSpc>
                <a:spcPts val="2126"/>
              </a:lnSpc>
              <a:buNone/>
            </a:pPr>
            <a:r>
              <a:rPr lang="en-US" sz="1701" dirty="0">
                <a:solidFill>
                  <a:srgbClr val="454240"/>
                </a:solidFill>
                <a:latin typeface="Libre Baskerville" pitchFamily="34" charset="0"/>
                <a:ea typeface="Libre Baskerville" pitchFamily="34" charset="-122"/>
                <a:cs typeface="Libre Baskerville" pitchFamily="34" charset="-120"/>
              </a:rPr>
              <a:t>Manque de flexibilité et d'adaptabilité</a:t>
            </a:r>
            <a:endParaRPr lang="en-US" sz="1701" dirty="0"/>
          </a:p>
        </p:txBody>
      </p:sp>
      <p:sp>
        <p:nvSpPr>
          <p:cNvPr id="8" name="Text 4"/>
          <p:cNvSpPr/>
          <p:nvPr/>
        </p:nvSpPr>
        <p:spPr>
          <a:xfrm>
            <a:off x="6271617" y="2780943"/>
            <a:ext cx="7573566" cy="276582"/>
          </a:xfrm>
          <a:prstGeom prst="rect">
            <a:avLst/>
          </a:prstGeom>
          <a:noFill/>
          <a:ln/>
        </p:spPr>
        <p:txBody>
          <a:bodyPr wrap="non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aux besoins spécifiques de chaque boulangerie. Les fonctionnalités sont assez standardisées.</a:t>
            </a:r>
            <a:endParaRPr lang="en-US" sz="1361" dirty="0"/>
          </a:p>
        </p:txBody>
      </p:sp>
      <p:sp>
        <p:nvSpPr>
          <p:cNvPr id="9" name="Shape 5"/>
          <p:cNvSpPr/>
          <p:nvPr/>
        </p:nvSpPr>
        <p:spPr>
          <a:xfrm>
            <a:off x="6091238" y="3410664"/>
            <a:ext cx="7934325" cy="1287423"/>
          </a:xfrm>
          <a:prstGeom prst="roundRect">
            <a:avLst>
              <a:gd name="adj" fmla="val 6041"/>
            </a:avLst>
          </a:prstGeom>
          <a:solidFill>
            <a:srgbClr val="F7EDD4"/>
          </a:solidFill>
          <a:ln w="7620">
            <a:solidFill>
              <a:srgbClr val="DDD3BA"/>
            </a:solidFill>
            <a:prstDash val="solid"/>
          </a:ln>
        </p:spPr>
      </p:sp>
      <p:sp>
        <p:nvSpPr>
          <p:cNvPr id="10" name="Text 6"/>
          <p:cNvSpPr/>
          <p:nvPr/>
        </p:nvSpPr>
        <p:spPr>
          <a:xfrm>
            <a:off x="6271617" y="3591044"/>
            <a:ext cx="2160270" cy="269915"/>
          </a:xfrm>
          <a:prstGeom prst="rect">
            <a:avLst/>
          </a:prstGeom>
          <a:noFill/>
          <a:ln/>
        </p:spPr>
        <p:txBody>
          <a:bodyPr wrap="none" rtlCol="0" anchor="t"/>
          <a:lstStyle/>
          <a:p>
            <a:pPr indent="0" marL="0">
              <a:lnSpc>
                <a:spcPts val="2126"/>
              </a:lnSpc>
              <a:buNone/>
            </a:pPr>
            <a:r>
              <a:rPr lang="en-US" sz="1701" dirty="0">
                <a:solidFill>
                  <a:srgbClr val="454240"/>
                </a:solidFill>
                <a:latin typeface="Libre Baskerville" pitchFamily="34" charset="0"/>
                <a:ea typeface="Libre Baskerville" pitchFamily="34" charset="-122"/>
                <a:cs typeface="Libre Baskerville" pitchFamily="34" charset="-120"/>
              </a:rPr>
              <a:t>Intégration limitée</a:t>
            </a:r>
            <a:endParaRPr lang="en-US" sz="1701" dirty="0"/>
          </a:p>
        </p:txBody>
      </p:sp>
      <p:sp>
        <p:nvSpPr>
          <p:cNvPr id="11" name="Text 7"/>
          <p:cNvSpPr/>
          <p:nvPr/>
        </p:nvSpPr>
        <p:spPr>
          <a:xfrm>
            <a:off x="6271617" y="3964543"/>
            <a:ext cx="7573566" cy="553164"/>
          </a:xfrm>
          <a:prstGeom prst="rect">
            <a:avLst/>
          </a:prstGeom>
          <a:noFill/>
          <a:ln/>
        </p:spPr>
        <p:txBody>
          <a:bodyPr wrap="squar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avec d'autres outils métier utilisés par les boulangeries (gestion de la production, e-commerce, etc.).</a:t>
            </a:r>
            <a:endParaRPr lang="en-US" sz="1361" dirty="0"/>
          </a:p>
        </p:txBody>
      </p:sp>
      <p:sp>
        <p:nvSpPr>
          <p:cNvPr id="12" name="Shape 8"/>
          <p:cNvSpPr/>
          <p:nvPr/>
        </p:nvSpPr>
        <p:spPr>
          <a:xfrm>
            <a:off x="6091238" y="4870847"/>
            <a:ext cx="7934325" cy="1010841"/>
          </a:xfrm>
          <a:prstGeom prst="roundRect">
            <a:avLst>
              <a:gd name="adj" fmla="val 7694"/>
            </a:avLst>
          </a:prstGeom>
          <a:solidFill>
            <a:srgbClr val="F7EDD4"/>
          </a:solidFill>
          <a:ln w="7620">
            <a:solidFill>
              <a:srgbClr val="DDD3BA"/>
            </a:solidFill>
            <a:prstDash val="solid"/>
          </a:ln>
        </p:spPr>
      </p:sp>
      <p:sp>
        <p:nvSpPr>
          <p:cNvPr id="13" name="Text 9"/>
          <p:cNvSpPr/>
          <p:nvPr/>
        </p:nvSpPr>
        <p:spPr>
          <a:xfrm>
            <a:off x="6271617" y="5051227"/>
            <a:ext cx="3831788" cy="269915"/>
          </a:xfrm>
          <a:prstGeom prst="rect">
            <a:avLst/>
          </a:prstGeom>
          <a:noFill/>
          <a:ln/>
        </p:spPr>
        <p:txBody>
          <a:bodyPr wrap="none" rtlCol="0" anchor="t"/>
          <a:lstStyle/>
          <a:p>
            <a:pPr indent="0" marL="0">
              <a:lnSpc>
                <a:spcPts val="2126"/>
              </a:lnSpc>
              <a:buNone/>
            </a:pPr>
            <a:r>
              <a:rPr lang="en-US" sz="1701" dirty="0">
                <a:solidFill>
                  <a:srgbClr val="454240"/>
                </a:solidFill>
                <a:latin typeface="Libre Baskerville" pitchFamily="34" charset="0"/>
                <a:ea typeface="Libre Baskerville" pitchFamily="34" charset="-122"/>
                <a:cs typeface="Libre Baskerville" pitchFamily="34" charset="-120"/>
              </a:rPr>
              <a:t>Ergonomie et interface utilisateurs</a:t>
            </a:r>
            <a:endParaRPr lang="en-US" sz="1701" dirty="0"/>
          </a:p>
        </p:txBody>
      </p:sp>
      <p:sp>
        <p:nvSpPr>
          <p:cNvPr id="14" name="Text 10"/>
          <p:cNvSpPr/>
          <p:nvPr/>
        </p:nvSpPr>
        <p:spPr>
          <a:xfrm>
            <a:off x="6271617" y="5424726"/>
            <a:ext cx="7573566" cy="276582"/>
          </a:xfrm>
          <a:prstGeom prst="rect">
            <a:avLst/>
          </a:prstGeom>
          <a:noFill/>
          <a:ln/>
        </p:spPr>
        <p:txBody>
          <a:bodyPr wrap="non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parfois complexes, rendant l'utile-quotidienne difficile pour le personnel.</a:t>
            </a:r>
            <a:endParaRPr lang="en-US" sz="1361" dirty="0"/>
          </a:p>
        </p:txBody>
      </p:sp>
      <p:sp>
        <p:nvSpPr>
          <p:cNvPr id="15" name="Shape 11"/>
          <p:cNvSpPr/>
          <p:nvPr/>
        </p:nvSpPr>
        <p:spPr>
          <a:xfrm>
            <a:off x="6091238" y="6054447"/>
            <a:ext cx="7934325" cy="1287423"/>
          </a:xfrm>
          <a:prstGeom prst="roundRect">
            <a:avLst>
              <a:gd name="adj" fmla="val 6041"/>
            </a:avLst>
          </a:prstGeom>
          <a:solidFill>
            <a:srgbClr val="F7EDD4"/>
          </a:solidFill>
          <a:ln w="7620">
            <a:solidFill>
              <a:srgbClr val="DDD3BA"/>
            </a:solidFill>
            <a:prstDash val="solid"/>
          </a:ln>
        </p:spPr>
      </p:sp>
      <p:sp>
        <p:nvSpPr>
          <p:cNvPr id="16" name="Text 12"/>
          <p:cNvSpPr/>
          <p:nvPr/>
        </p:nvSpPr>
        <p:spPr>
          <a:xfrm>
            <a:off x="6271617" y="6234827"/>
            <a:ext cx="2160270" cy="269915"/>
          </a:xfrm>
          <a:prstGeom prst="rect">
            <a:avLst/>
          </a:prstGeom>
          <a:noFill/>
          <a:ln/>
        </p:spPr>
        <p:txBody>
          <a:bodyPr wrap="none" rtlCol="0" anchor="t"/>
          <a:lstStyle/>
          <a:p>
            <a:pPr indent="0" marL="0">
              <a:lnSpc>
                <a:spcPts val="2126"/>
              </a:lnSpc>
              <a:buNone/>
            </a:pPr>
            <a:r>
              <a:rPr lang="en-US" sz="1701" dirty="0">
                <a:solidFill>
                  <a:srgbClr val="454240"/>
                </a:solidFill>
                <a:latin typeface="Libre Baskerville" pitchFamily="34" charset="0"/>
                <a:ea typeface="Libre Baskerville" pitchFamily="34" charset="-122"/>
                <a:cs typeface="Libre Baskerville" pitchFamily="34" charset="-120"/>
              </a:rPr>
              <a:t>Coût élevé</a:t>
            </a:r>
            <a:endParaRPr lang="en-US" sz="1701" dirty="0"/>
          </a:p>
        </p:txBody>
      </p:sp>
      <p:sp>
        <p:nvSpPr>
          <p:cNvPr id="17" name="Text 13"/>
          <p:cNvSpPr/>
          <p:nvPr/>
        </p:nvSpPr>
        <p:spPr>
          <a:xfrm>
            <a:off x="6271617" y="6608326"/>
            <a:ext cx="7573566" cy="553164"/>
          </a:xfrm>
          <a:prstGeom prst="rect">
            <a:avLst/>
          </a:prstGeom>
          <a:noFill/>
          <a:ln/>
        </p:spPr>
        <p:txBody>
          <a:bodyPr wrap="squar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de certaines solutions, surtout pour les petites et moyennes boulangeries. - Données stockées de manière cloisonnée, rendant difficile une vision globale et transversale.</a:t>
            </a:r>
            <a:endParaRPr lang="en-US" sz="1361" dirty="0"/>
          </a:p>
        </p:txBody>
      </p:sp>
      <p:pic>
        <p:nvPicPr>
          <p:cNvPr id="18"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400931"/>
          </a:xfrm>
          <a:prstGeom prst="rect">
            <a:avLst/>
          </a:prstGeom>
          <a:solidFill>
            <a:srgbClr val="FFFDFA"/>
          </a:solidFill>
          <a:ln/>
        </p:spPr>
      </p:sp>
      <p:pic>
        <p:nvPicPr>
          <p:cNvPr id="4" name="Image 1" descr="preencoded.png">    </p:cNvPr>
          <p:cNvPicPr>
            <a:picLocks noChangeAspect="1"/>
          </p:cNvPicPr>
          <p:nvPr/>
        </p:nvPicPr>
        <p:blipFill>
          <a:blip r:embed="rId2"/>
          <a:stretch>
            <a:fillRect/>
          </a:stretch>
        </p:blipFill>
        <p:spPr>
          <a:xfrm>
            <a:off x="9144000" y="0"/>
            <a:ext cx="5486400" cy="8400931"/>
          </a:xfrm>
          <a:prstGeom prst="rect">
            <a:avLst/>
          </a:prstGeom>
        </p:spPr>
      </p:pic>
      <p:sp>
        <p:nvSpPr>
          <p:cNvPr id="5" name="Text 1"/>
          <p:cNvSpPr/>
          <p:nvPr/>
        </p:nvSpPr>
        <p:spPr>
          <a:xfrm>
            <a:off x="604837" y="475178"/>
            <a:ext cx="7768828" cy="540068"/>
          </a:xfrm>
          <a:prstGeom prst="rect">
            <a:avLst/>
          </a:prstGeom>
          <a:noFill/>
          <a:ln/>
        </p:spPr>
        <p:txBody>
          <a:bodyPr wrap="none" rtlCol="0" anchor="t"/>
          <a:lstStyle/>
          <a:p>
            <a:pPr indent="0" marL="0">
              <a:lnSpc>
                <a:spcPts val="4253"/>
              </a:lnSpc>
              <a:buNone/>
            </a:pPr>
            <a:r>
              <a:rPr lang="en-US" sz="3402" dirty="0">
                <a:solidFill>
                  <a:srgbClr val="910D0D"/>
                </a:solidFill>
                <a:latin typeface="Libre Baskerville" pitchFamily="34" charset="0"/>
                <a:ea typeface="Libre Baskerville" pitchFamily="34" charset="-122"/>
                <a:cs typeface="Libre Baskerville" pitchFamily="34" charset="-120"/>
              </a:rPr>
              <a:t>Cahier De Charge Et Méthodologie</a:t>
            </a:r>
            <a:endParaRPr lang="en-US" sz="3402" dirty="0"/>
          </a:p>
        </p:txBody>
      </p:sp>
      <p:sp>
        <p:nvSpPr>
          <p:cNvPr id="6" name="Shape 2"/>
          <p:cNvSpPr/>
          <p:nvPr/>
        </p:nvSpPr>
        <p:spPr>
          <a:xfrm>
            <a:off x="846773" y="1274445"/>
            <a:ext cx="34528" cy="6651307"/>
          </a:xfrm>
          <a:prstGeom prst="roundRect">
            <a:avLst>
              <a:gd name="adj" fmla="val 225237"/>
            </a:avLst>
          </a:prstGeom>
          <a:solidFill>
            <a:srgbClr val="DDD3BA"/>
          </a:solidFill>
          <a:ln/>
        </p:spPr>
      </p:sp>
      <p:sp>
        <p:nvSpPr>
          <p:cNvPr id="7" name="Shape 3"/>
          <p:cNvSpPr/>
          <p:nvPr/>
        </p:nvSpPr>
        <p:spPr>
          <a:xfrm>
            <a:off x="1058406" y="1645801"/>
            <a:ext cx="604837" cy="34528"/>
          </a:xfrm>
          <a:prstGeom prst="roundRect">
            <a:avLst>
              <a:gd name="adj" fmla="val 225237"/>
            </a:avLst>
          </a:prstGeom>
          <a:solidFill>
            <a:srgbClr val="DDD3BA"/>
          </a:solidFill>
          <a:ln/>
        </p:spPr>
      </p:sp>
      <p:sp>
        <p:nvSpPr>
          <p:cNvPr id="8" name="Shape 4"/>
          <p:cNvSpPr/>
          <p:nvPr/>
        </p:nvSpPr>
        <p:spPr>
          <a:xfrm>
            <a:off x="669667" y="1468755"/>
            <a:ext cx="388739" cy="388739"/>
          </a:xfrm>
          <a:prstGeom prst="roundRect">
            <a:avLst>
              <a:gd name="adj" fmla="val 20006"/>
            </a:avLst>
          </a:prstGeom>
          <a:solidFill>
            <a:srgbClr val="F7EDD4"/>
          </a:solidFill>
          <a:ln w="7620">
            <a:solidFill>
              <a:srgbClr val="DDD3BA"/>
            </a:solidFill>
            <a:prstDash val="solid"/>
          </a:ln>
        </p:spPr>
      </p:sp>
      <p:sp>
        <p:nvSpPr>
          <p:cNvPr id="9" name="Text 5"/>
          <p:cNvSpPr/>
          <p:nvPr/>
        </p:nvSpPr>
        <p:spPr>
          <a:xfrm>
            <a:off x="806232" y="1533525"/>
            <a:ext cx="115610" cy="259199"/>
          </a:xfrm>
          <a:prstGeom prst="rect">
            <a:avLst/>
          </a:prstGeom>
          <a:noFill/>
          <a:ln/>
        </p:spPr>
        <p:txBody>
          <a:bodyPr wrap="none" rtlCol="0" anchor="t"/>
          <a:lstStyle/>
          <a:p>
            <a:pPr algn="ctr" indent="0" marL="0">
              <a:lnSpc>
                <a:spcPts val="2041"/>
              </a:lnSpc>
              <a:buNone/>
            </a:pPr>
            <a:r>
              <a:rPr lang="en-US" sz="2041" dirty="0">
                <a:solidFill>
                  <a:srgbClr val="454240"/>
                </a:solidFill>
                <a:latin typeface="Libre Baskerville" pitchFamily="34" charset="0"/>
                <a:ea typeface="Libre Baskerville" pitchFamily="34" charset="-122"/>
                <a:cs typeface="Libre Baskerville" pitchFamily="34" charset="-120"/>
              </a:rPr>
              <a:t>1</a:t>
            </a:r>
            <a:endParaRPr lang="en-US" sz="2041" dirty="0"/>
          </a:p>
        </p:txBody>
      </p:sp>
      <p:sp>
        <p:nvSpPr>
          <p:cNvPr id="10" name="Text 6"/>
          <p:cNvSpPr/>
          <p:nvPr/>
        </p:nvSpPr>
        <p:spPr>
          <a:xfrm>
            <a:off x="1814513" y="1447205"/>
            <a:ext cx="2160270" cy="269915"/>
          </a:xfrm>
          <a:prstGeom prst="rect">
            <a:avLst/>
          </a:prstGeom>
          <a:noFill/>
          <a:ln/>
        </p:spPr>
        <p:txBody>
          <a:bodyPr wrap="none" rtlCol="0" anchor="t"/>
          <a:lstStyle/>
          <a:p>
            <a:pPr algn="l" indent="0" marL="0">
              <a:lnSpc>
                <a:spcPts val="2126"/>
              </a:lnSpc>
              <a:buNone/>
            </a:pPr>
            <a:r>
              <a:rPr lang="en-US" sz="1701" dirty="0">
                <a:solidFill>
                  <a:srgbClr val="454240"/>
                </a:solidFill>
                <a:latin typeface="Libre Baskerville" pitchFamily="34" charset="0"/>
                <a:ea typeface="Libre Baskerville" pitchFamily="34" charset="-122"/>
                <a:cs typeface="Libre Baskerville" pitchFamily="34" charset="-120"/>
              </a:rPr>
              <a:t>Contexte Du Projet</a:t>
            </a:r>
            <a:endParaRPr lang="en-US" sz="1701" dirty="0"/>
          </a:p>
        </p:txBody>
      </p:sp>
      <p:sp>
        <p:nvSpPr>
          <p:cNvPr id="11" name="Text 7"/>
          <p:cNvSpPr/>
          <p:nvPr/>
        </p:nvSpPr>
        <p:spPr>
          <a:xfrm>
            <a:off x="1814513" y="1820704"/>
            <a:ext cx="6724650" cy="1382911"/>
          </a:xfrm>
          <a:prstGeom prst="rect">
            <a:avLst/>
          </a:prstGeom>
          <a:noFill/>
          <a:ln/>
        </p:spPr>
        <p:txBody>
          <a:bodyPr wrap="square" rtlCol="0" anchor="t"/>
          <a:lstStyle/>
          <a:p>
            <a:pPr algn="l" indent="0" marL="0">
              <a:lnSpc>
                <a:spcPts val="2177"/>
              </a:lnSpc>
              <a:buNone/>
            </a:pPr>
            <a:r>
              <a:rPr lang="en-US" sz="1361" dirty="0">
                <a:solidFill>
                  <a:srgbClr val="454240"/>
                </a:solidFill>
                <a:latin typeface="DM Sans" pitchFamily="34" charset="0"/>
                <a:ea typeface="DM Sans" pitchFamily="34" charset="-122"/>
                <a:cs typeface="DM Sans" pitchFamily="34" charset="-120"/>
              </a:rPr>
              <a:t>Les boulangeries font face à des défis constants dans la gestion de leurs stocks de matières premières et de produits finis. Un système informatisé de gestion des stocks est donc essentiel pour optimiser les processus, réduire les pertes et améliorer la rentabilité. Ce projet vise à développer une application de gestion des stocks adaptée aux besoins spécifiques des boulangeries.</a:t>
            </a:r>
            <a:endParaRPr lang="en-US" sz="1361" dirty="0"/>
          </a:p>
        </p:txBody>
      </p:sp>
      <p:sp>
        <p:nvSpPr>
          <p:cNvPr id="12" name="Shape 8"/>
          <p:cNvSpPr/>
          <p:nvPr/>
        </p:nvSpPr>
        <p:spPr>
          <a:xfrm>
            <a:off x="1058406" y="3920490"/>
            <a:ext cx="604837" cy="34528"/>
          </a:xfrm>
          <a:prstGeom prst="roundRect">
            <a:avLst>
              <a:gd name="adj" fmla="val 225237"/>
            </a:avLst>
          </a:prstGeom>
          <a:solidFill>
            <a:srgbClr val="DDD3BA"/>
          </a:solidFill>
          <a:ln/>
        </p:spPr>
      </p:sp>
      <p:sp>
        <p:nvSpPr>
          <p:cNvPr id="13" name="Shape 9"/>
          <p:cNvSpPr/>
          <p:nvPr/>
        </p:nvSpPr>
        <p:spPr>
          <a:xfrm>
            <a:off x="669667" y="3743444"/>
            <a:ext cx="388739" cy="388739"/>
          </a:xfrm>
          <a:prstGeom prst="roundRect">
            <a:avLst>
              <a:gd name="adj" fmla="val 20006"/>
            </a:avLst>
          </a:prstGeom>
          <a:solidFill>
            <a:srgbClr val="F7EDD4"/>
          </a:solidFill>
          <a:ln w="7620">
            <a:solidFill>
              <a:srgbClr val="DDD3BA"/>
            </a:solidFill>
            <a:prstDash val="solid"/>
          </a:ln>
        </p:spPr>
      </p:sp>
      <p:sp>
        <p:nvSpPr>
          <p:cNvPr id="14" name="Text 10"/>
          <p:cNvSpPr/>
          <p:nvPr/>
        </p:nvSpPr>
        <p:spPr>
          <a:xfrm>
            <a:off x="784086" y="3808214"/>
            <a:ext cx="159782" cy="259199"/>
          </a:xfrm>
          <a:prstGeom prst="rect">
            <a:avLst/>
          </a:prstGeom>
          <a:noFill/>
          <a:ln/>
        </p:spPr>
        <p:txBody>
          <a:bodyPr wrap="none" rtlCol="0" anchor="t"/>
          <a:lstStyle/>
          <a:p>
            <a:pPr algn="ctr" indent="0" marL="0">
              <a:lnSpc>
                <a:spcPts val="2041"/>
              </a:lnSpc>
              <a:buNone/>
            </a:pPr>
            <a:r>
              <a:rPr lang="en-US" sz="2041" dirty="0">
                <a:solidFill>
                  <a:srgbClr val="454240"/>
                </a:solidFill>
                <a:latin typeface="Libre Baskerville" pitchFamily="34" charset="0"/>
                <a:ea typeface="Libre Baskerville" pitchFamily="34" charset="-122"/>
                <a:cs typeface="Libre Baskerville" pitchFamily="34" charset="-120"/>
              </a:rPr>
              <a:t>2</a:t>
            </a:r>
            <a:endParaRPr lang="en-US" sz="2041" dirty="0"/>
          </a:p>
        </p:txBody>
      </p:sp>
      <p:sp>
        <p:nvSpPr>
          <p:cNvPr id="15" name="Text 11"/>
          <p:cNvSpPr/>
          <p:nvPr/>
        </p:nvSpPr>
        <p:spPr>
          <a:xfrm>
            <a:off x="1814513" y="3721894"/>
            <a:ext cx="2160270" cy="269915"/>
          </a:xfrm>
          <a:prstGeom prst="rect">
            <a:avLst/>
          </a:prstGeom>
          <a:noFill/>
          <a:ln/>
        </p:spPr>
        <p:txBody>
          <a:bodyPr wrap="none" rtlCol="0" anchor="t"/>
          <a:lstStyle/>
          <a:p>
            <a:pPr algn="l" indent="0" marL="0">
              <a:lnSpc>
                <a:spcPts val="2126"/>
              </a:lnSpc>
              <a:buNone/>
            </a:pPr>
            <a:r>
              <a:rPr lang="en-US" sz="1701" dirty="0">
                <a:solidFill>
                  <a:srgbClr val="454240"/>
                </a:solidFill>
                <a:latin typeface="Libre Baskerville" pitchFamily="34" charset="0"/>
                <a:ea typeface="Libre Baskerville" pitchFamily="34" charset="-122"/>
                <a:cs typeface="Libre Baskerville" pitchFamily="34" charset="-120"/>
              </a:rPr>
              <a:t>Objectifs du projet</a:t>
            </a:r>
            <a:endParaRPr lang="en-US" sz="1701" dirty="0"/>
          </a:p>
        </p:txBody>
      </p:sp>
      <p:sp>
        <p:nvSpPr>
          <p:cNvPr id="16" name="Text 12"/>
          <p:cNvSpPr/>
          <p:nvPr/>
        </p:nvSpPr>
        <p:spPr>
          <a:xfrm>
            <a:off x="1814513" y="4095393"/>
            <a:ext cx="6724650" cy="1936075"/>
          </a:xfrm>
          <a:prstGeom prst="rect">
            <a:avLst/>
          </a:prstGeom>
          <a:noFill/>
          <a:ln/>
        </p:spPr>
        <p:txBody>
          <a:bodyPr wrap="square" rtlCol="0" anchor="t"/>
          <a:lstStyle/>
          <a:p>
            <a:pPr algn="l" indent="0" marL="0">
              <a:lnSpc>
                <a:spcPts val="2177"/>
              </a:lnSpc>
              <a:buNone/>
            </a:pPr>
            <a:r>
              <a:rPr lang="en-US" sz="1361" dirty="0">
                <a:solidFill>
                  <a:srgbClr val="454240"/>
                </a:solidFill>
                <a:latin typeface="DM Sans" pitchFamily="34" charset="0"/>
                <a:ea typeface="DM Sans" pitchFamily="34" charset="-122"/>
                <a:cs typeface="DM Sans" pitchFamily="34" charset="-120"/>
              </a:rPr>
              <a:t>Les objectifs principaux de ce projet sont : Automatiser la gestion des stocks de matières premières et de produits finis - Réduire les erreurs manuelles et les pertes de stock - Améliorer la visibilité sur les niveaux de stocks et les besoins de réapprovisionnement - Faciliter la planification de la production en fonction des stocks disponibles - Permettre un suivi précis des entrées, sorties et mouvements de stock - Assurer une expérience utilisateur intuitive et conviviale pour les équipes de la boulangerie</a:t>
            </a:r>
            <a:endParaRPr lang="en-US" sz="1361" dirty="0"/>
          </a:p>
        </p:txBody>
      </p:sp>
      <p:sp>
        <p:nvSpPr>
          <p:cNvPr id="17" name="Shape 13"/>
          <p:cNvSpPr/>
          <p:nvPr/>
        </p:nvSpPr>
        <p:spPr>
          <a:xfrm>
            <a:off x="1058406" y="6748343"/>
            <a:ext cx="604837" cy="34528"/>
          </a:xfrm>
          <a:prstGeom prst="roundRect">
            <a:avLst>
              <a:gd name="adj" fmla="val 225237"/>
            </a:avLst>
          </a:prstGeom>
          <a:solidFill>
            <a:srgbClr val="DDD3BA"/>
          </a:solidFill>
          <a:ln/>
        </p:spPr>
      </p:sp>
      <p:sp>
        <p:nvSpPr>
          <p:cNvPr id="18" name="Shape 14"/>
          <p:cNvSpPr/>
          <p:nvPr/>
        </p:nvSpPr>
        <p:spPr>
          <a:xfrm>
            <a:off x="669667" y="6571298"/>
            <a:ext cx="388739" cy="388739"/>
          </a:xfrm>
          <a:prstGeom prst="roundRect">
            <a:avLst>
              <a:gd name="adj" fmla="val 20006"/>
            </a:avLst>
          </a:prstGeom>
          <a:solidFill>
            <a:srgbClr val="F7EDD4"/>
          </a:solidFill>
          <a:ln w="7620">
            <a:solidFill>
              <a:srgbClr val="DDD3BA"/>
            </a:solidFill>
            <a:prstDash val="solid"/>
          </a:ln>
        </p:spPr>
      </p:sp>
      <p:sp>
        <p:nvSpPr>
          <p:cNvPr id="19" name="Text 15"/>
          <p:cNvSpPr/>
          <p:nvPr/>
        </p:nvSpPr>
        <p:spPr>
          <a:xfrm>
            <a:off x="784086" y="6636068"/>
            <a:ext cx="159782" cy="259199"/>
          </a:xfrm>
          <a:prstGeom prst="rect">
            <a:avLst/>
          </a:prstGeom>
          <a:noFill/>
          <a:ln/>
        </p:spPr>
        <p:txBody>
          <a:bodyPr wrap="none" rtlCol="0" anchor="t"/>
          <a:lstStyle/>
          <a:p>
            <a:pPr algn="ctr" indent="0" marL="0">
              <a:lnSpc>
                <a:spcPts val="2041"/>
              </a:lnSpc>
              <a:buNone/>
            </a:pPr>
            <a:r>
              <a:rPr lang="en-US" sz="2041" dirty="0">
                <a:solidFill>
                  <a:srgbClr val="454240"/>
                </a:solidFill>
                <a:latin typeface="Libre Baskerville" pitchFamily="34" charset="0"/>
                <a:ea typeface="Libre Baskerville" pitchFamily="34" charset="-122"/>
                <a:cs typeface="Libre Baskerville" pitchFamily="34" charset="-120"/>
              </a:rPr>
              <a:t>3</a:t>
            </a:r>
            <a:endParaRPr lang="en-US" sz="2041" dirty="0"/>
          </a:p>
        </p:txBody>
      </p:sp>
      <p:sp>
        <p:nvSpPr>
          <p:cNvPr id="20" name="Text 16"/>
          <p:cNvSpPr/>
          <p:nvPr/>
        </p:nvSpPr>
        <p:spPr>
          <a:xfrm>
            <a:off x="1814513" y="6549747"/>
            <a:ext cx="2160270" cy="269915"/>
          </a:xfrm>
          <a:prstGeom prst="rect">
            <a:avLst/>
          </a:prstGeom>
          <a:noFill/>
          <a:ln/>
        </p:spPr>
        <p:txBody>
          <a:bodyPr wrap="none" rtlCol="0" anchor="t"/>
          <a:lstStyle/>
          <a:p>
            <a:pPr algn="l" indent="0" marL="0">
              <a:lnSpc>
                <a:spcPts val="2126"/>
              </a:lnSpc>
              <a:buNone/>
            </a:pPr>
            <a:r>
              <a:rPr lang="en-US" sz="1701" dirty="0">
                <a:solidFill>
                  <a:srgbClr val="454240"/>
                </a:solidFill>
                <a:latin typeface="Libre Baskerville" pitchFamily="34" charset="0"/>
                <a:ea typeface="Libre Baskerville" pitchFamily="34" charset="-122"/>
                <a:cs typeface="Libre Baskerville" pitchFamily="34" charset="-120"/>
              </a:rPr>
              <a:t>Intérêt Du Projet</a:t>
            </a:r>
            <a:endParaRPr lang="en-US" sz="1701" dirty="0"/>
          </a:p>
        </p:txBody>
      </p:sp>
      <p:sp>
        <p:nvSpPr>
          <p:cNvPr id="21" name="Text 17"/>
          <p:cNvSpPr/>
          <p:nvPr/>
        </p:nvSpPr>
        <p:spPr>
          <a:xfrm>
            <a:off x="1814513" y="6923246"/>
            <a:ext cx="6724650" cy="829747"/>
          </a:xfrm>
          <a:prstGeom prst="rect">
            <a:avLst/>
          </a:prstGeom>
          <a:noFill/>
          <a:ln/>
        </p:spPr>
        <p:txBody>
          <a:bodyPr wrap="square" rtlCol="0" anchor="t"/>
          <a:lstStyle/>
          <a:p>
            <a:pPr algn="l" indent="0" marL="0">
              <a:lnSpc>
                <a:spcPts val="2177"/>
              </a:lnSpc>
              <a:buNone/>
            </a:pPr>
            <a:r>
              <a:rPr lang="en-US" sz="1361" dirty="0">
                <a:solidFill>
                  <a:srgbClr val="454240"/>
                </a:solidFill>
                <a:latin typeface="DM Sans" pitchFamily="34" charset="0"/>
                <a:ea typeface="DM Sans" pitchFamily="34" charset="-122"/>
                <a:cs typeface="DM Sans" pitchFamily="34" charset="-120"/>
              </a:rPr>
              <a:t>L'application permettra aux boulangeries de mieux gérer leurs stocks, de réduire les pertes et d'améliorer leur rentabilité. Elle permettra également de simplifier les processus de gestion et de faciliter la prise de décision.</a:t>
            </a:r>
            <a:endParaRPr lang="en-US" sz="1361" dirty="0"/>
          </a:p>
        </p:txBody>
      </p:sp>
      <p:pic>
        <p:nvPicPr>
          <p:cNvPr id="22"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p:cNvPr>
          <p:cNvPicPr>
            <a:picLocks noChangeAspect="1"/>
          </p:cNvPicPr>
          <p:nvPr/>
        </p:nvPicPr>
        <p:blipFill>
          <a:blip r:embed="rId2"/>
          <a:stretch>
            <a:fillRect/>
          </a:stretch>
        </p:blipFill>
        <p:spPr>
          <a:xfrm>
            <a:off x="9144000" y="0"/>
            <a:ext cx="5486400" cy="8229600"/>
          </a:xfrm>
          <a:prstGeom prst="rect">
            <a:avLst/>
          </a:prstGeom>
        </p:spPr>
      </p:pic>
      <p:sp>
        <p:nvSpPr>
          <p:cNvPr id="5" name="Text 1"/>
          <p:cNvSpPr/>
          <p:nvPr/>
        </p:nvSpPr>
        <p:spPr>
          <a:xfrm>
            <a:off x="604837" y="584716"/>
            <a:ext cx="7934325" cy="1080135"/>
          </a:xfrm>
          <a:prstGeom prst="rect">
            <a:avLst/>
          </a:prstGeom>
          <a:noFill/>
          <a:ln/>
        </p:spPr>
        <p:txBody>
          <a:bodyPr wrap="square" rtlCol="0" anchor="t"/>
          <a:lstStyle/>
          <a:p>
            <a:pPr indent="0" marL="0">
              <a:lnSpc>
                <a:spcPts val="4253"/>
              </a:lnSpc>
              <a:buNone/>
            </a:pPr>
            <a:r>
              <a:rPr lang="en-US" sz="3402" dirty="0">
                <a:solidFill>
                  <a:srgbClr val="F44444"/>
                </a:solidFill>
                <a:latin typeface="Libre Baskerville" pitchFamily="34" charset="0"/>
                <a:ea typeface="Libre Baskerville" pitchFamily="34" charset="-122"/>
                <a:cs typeface="Libre Baskerville" pitchFamily="34" charset="-120"/>
              </a:rPr>
              <a:t>Exigences fonctionnelles et non fonctionnelles</a:t>
            </a:r>
            <a:endParaRPr lang="en-US" sz="3402" dirty="0"/>
          </a:p>
        </p:txBody>
      </p:sp>
      <p:sp>
        <p:nvSpPr>
          <p:cNvPr id="6" name="Shape 2"/>
          <p:cNvSpPr/>
          <p:nvPr/>
        </p:nvSpPr>
        <p:spPr>
          <a:xfrm>
            <a:off x="604837" y="1924050"/>
            <a:ext cx="7934325" cy="5720834"/>
          </a:xfrm>
          <a:prstGeom prst="roundRect">
            <a:avLst>
              <a:gd name="adj" fmla="val 1359"/>
            </a:avLst>
          </a:prstGeom>
          <a:noFill/>
          <a:ln w="7620">
            <a:solidFill>
              <a:srgbClr val="000000">
                <a:alpha val="8000"/>
              </a:srgbClr>
            </a:solidFill>
            <a:prstDash val="solid"/>
          </a:ln>
        </p:spPr>
      </p:sp>
      <p:sp>
        <p:nvSpPr>
          <p:cNvPr id="7" name="Shape 3"/>
          <p:cNvSpPr/>
          <p:nvPr/>
        </p:nvSpPr>
        <p:spPr>
          <a:xfrm>
            <a:off x="612458" y="1931670"/>
            <a:ext cx="7919085" cy="498991"/>
          </a:xfrm>
          <a:prstGeom prst="rect">
            <a:avLst/>
          </a:prstGeom>
          <a:solidFill>
            <a:srgbClr val="FFFFFF">
              <a:alpha val="4000"/>
            </a:srgbClr>
          </a:solidFill>
          <a:ln/>
        </p:spPr>
      </p:sp>
      <p:sp>
        <p:nvSpPr>
          <p:cNvPr id="8" name="Text 4"/>
          <p:cNvSpPr/>
          <p:nvPr/>
        </p:nvSpPr>
        <p:spPr>
          <a:xfrm>
            <a:off x="785217" y="2042874"/>
            <a:ext cx="3610213" cy="276582"/>
          </a:xfrm>
          <a:prstGeom prst="rect">
            <a:avLst/>
          </a:prstGeom>
          <a:noFill/>
          <a:ln/>
        </p:spPr>
        <p:txBody>
          <a:bodyPr wrap="non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Fonctionnalités</a:t>
            </a:r>
            <a:endParaRPr lang="en-US" sz="1361" dirty="0"/>
          </a:p>
        </p:txBody>
      </p:sp>
      <p:sp>
        <p:nvSpPr>
          <p:cNvPr id="9" name="Text 5"/>
          <p:cNvSpPr/>
          <p:nvPr/>
        </p:nvSpPr>
        <p:spPr>
          <a:xfrm>
            <a:off x="4748570" y="2042874"/>
            <a:ext cx="3610213" cy="276582"/>
          </a:xfrm>
          <a:prstGeom prst="rect">
            <a:avLst/>
          </a:prstGeom>
          <a:noFill/>
          <a:ln/>
        </p:spPr>
        <p:txBody>
          <a:bodyPr wrap="non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Non Fonctionnelles</a:t>
            </a:r>
            <a:endParaRPr lang="en-US" sz="1361" dirty="0"/>
          </a:p>
        </p:txBody>
      </p:sp>
      <p:sp>
        <p:nvSpPr>
          <p:cNvPr id="10" name="Shape 6"/>
          <p:cNvSpPr/>
          <p:nvPr/>
        </p:nvSpPr>
        <p:spPr>
          <a:xfrm>
            <a:off x="612458" y="2430661"/>
            <a:ext cx="7919085" cy="1052155"/>
          </a:xfrm>
          <a:prstGeom prst="rect">
            <a:avLst/>
          </a:prstGeom>
          <a:solidFill>
            <a:srgbClr val="000000">
              <a:alpha val="4000"/>
            </a:srgbClr>
          </a:solidFill>
          <a:ln/>
        </p:spPr>
      </p:sp>
      <p:sp>
        <p:nvSpPr>
          <p:cNvPr id="11" name="Text 7"/>
          <p:cNvSpPr/>
          <p:nvPr/>
        </p:nvSpPr>
        <p:spPr>
          <a:xfrm>
            <a:off x="785217" y="2541865"/>
            <a:ext cx="3610213" cy="829747"/>
          </a:xfrm>
          <a:prstGeom prst="rect">
            <a:avLst/>
          </a:prstGeom>
          <a:noFill/>
          <a:ln/>
        </p:spPr>
        <p:txBody>
          <a:bodyPr wrap="squar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Enregistrer et gérer les informations sur les matières premières (ingrédients, quantités, fournisseurs, etc.)</a:t>
            </a:r>
            <a:endParaRPr lang="en-US" sz="1361" dirty="0"/>
          </a:p>
        </p:txBody>
      </p:sp>
      <p:sp>
        <p:nvSpPr>
          <p:cNvPr id="12" name="Text 8"/>
          <p:cNvSpPr/>
          <p:nvPr/>
        </p:nvSpPr>
        <p:spPr>
          <a:xfrm>
            <a:off x="4748570" y="2541865"/>
            <a:ext cx="3610213" cy="553164"/>
          </a:xfrm>
          <a:prstGeom prst="rect">
            <a:avLst/>
          </a:prstGeom>
          <a:noFill/>
          <a:ln/>
        </p:spPr>
        <p:txBody>
          <a:bodyPr wrap="squar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Ergonomie et facilité d'utilisation pour les équipes de la boulangerie</a:t>
            </a:r>
            <a:endParaRPr lang="en-US" sz="1361" dirty="0"/>
          </a:p>
        </p:txBody>
      </p:sp>
      <p:sp>
        <p:nvSpPr>
          <p:cNvPr id="13" name="Shape 9"/>
          <p:cNvSpPr/>
          <p:nvPr/>
        </p:nvSpPr>
        <p:spPr>
          <a:xfrm>
            <a:off x="612458" y="3482816"/>
            <a:ext cx="7919085" cy="1052155"/>
          </a:xfrm>
          <a:prstGeom prst="rect">
            <a:avLst/>
          </a:prstGeom>
          <a:solidFill>
            <a:srgbClr val="FFFFFF">
              <a:alpha val="4000"/>
            </a:srgbClr>
          </a:solidFill>
          <a:ln/>
        </p:spPr>
      </p:sp>
      <p:sp>
        <p:nvSpPr>
          <p:cNvPr id="14" name="Text 10"/>
          <p:cNvSpPr/>
          <p:nvPr/>
        </p:nvSpPr>
        <p:spPr>
          <a:xfrm>
            <a:off x="785217" y="3594021"/>
            <a:ext cx="3610213" cy="829747"/>
          </a:xfrm>
          <a:prstGeom prst="rect">
            <a:avLst/>
          </a:prstGeom>
          <a:noFill/>
          <a:ln/>
        </p:spPr>
        <p:txBody>
          <a:bodyPr wrap="squar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Enregistrer et gérer les informations sur les produits finis (recettes, coûts de production, prix de vente, etc.)</a:t>
            </a:r>
            <a:endParaRPr lang="en-US" sz="1361" dirty="0"/>
          </a:p>
        </p:txBody>
      </p:sp>
      <p:sp>
        <p:nvSpPr>
          <p:cNvPr id="15" name="Text 11"/>
          <p:cNvSpPr/>
          <p:nvPr/>
        </p:nvSpPr>
        <p:spPr>
          <a:xfrm>
            <a:off x="4748570" y="3594021"/>
            <a:ext cx="3610213" cy="276582"/>
          </a:xfrm>
          <a:prstGeom prst="rect">
            <a:avLst/>
          </a:prstGeom>
          <a:noFill/>
          <a:ln/>
        </p:spPr>
        <p:txBody>
          <a:bodyPr wrap="non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Fiabilité et robustesse du système</a:t>
            </a:r>
            <a:endParaRPr lang="en-US" sz="1361" dirty="0"/>
          </a:p>
        </p:txBody>
      </p:sp>
      <p:sp>
        <p:nvSpPr>
          <p:cNvPr id="16" name="Shape 12"/>
          <p:cNvSpPr/>
          <p:nvPr/>
        </p:nvSpPr>
        <p:spPr>
          <a:xfrm>
            <a:off x="612458" y="4534972"/>
            <a:ext cx="7919085" cy="775573"/>
          </a:xfrm>
          <a:prstGeom prst="rect">
            <a:avLst/>
          </a:prstGeom>
          <a:solidFill>
            <a:srgbClr val="000000">
              <a:alpha val="4000"/>
            </a:srgbClr>
          </a:solidFill>
          <a:ln/>
        </p:spPr>
      </p:sp>
      <p:sp>
        <p:nvSpPr>
          <p:cNvPr id="17" name="Text 13"/>
          <p:cNvSpPr/>
          <p:nvPr/>
        </p:nvSpPr>
        <p:spPr>
          <a:xfrm>
            <a:off x="785217" y="4646176"/>
            <a:ext cx="3610213" cy="553164"/>
          </a:xfrm>
          <a:prstGeom prst="rect">
            <a:avLst/>
          </a:prstGeom>
          <a:noFill/>
          <a:ln/>
        </p:spPr>
        <p:txBody>
          <a:bodyPr wrap="squar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Suivre les mouvements de stock (entrées, sorties, ajustements)</a:t>
            </a:r>
            <a:endParaRPr lang="en-US" sz="1361" dirty="0"/>
          </a:p>
        </p:txBody>
      </p:sp>
      <p:sp>
        <p:nvSpPr>
          <p:cNvPr id="18" name="Text 14"/>
          <p:cNvSpPr/>
          <p:nvPr/>
        </p:nvSpPr>
        <p:spPr>
          <a:xfrm>
            <a:off x="4748570" y="4646176"/>
            <a:ext cx="3610213" cy="276582"/>
          </a:xfrm>
          <a:prstGeom prst="rect">
            <a:avLst/>
          </a:prstGeom>
          <a:noFill/>
          <a:ln/>
        </p:spPr>
        <p:txBody>
          <a:bodyPr wrap="non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Sécurité des données et des accès</a:t>
            </a:r>
            <a:endParaRPr lang="en-US" sz="1361" dirty="0"/>
          </a:p>
        </p:txBody>
      </p:sp>
      <p:sp>
        <p:nvSpPr>
          <p:cNvPr id="19" name="Shape 15"/>
          <p:cNvSpPr/>
          <p:nvPr/>
        </p:nvSpPr>
        <p:spPr>
          <a:xfrm>
            <a:off x="612458" y="5310545"/>
            <a:ext cx="7919085" cy="775573"/>
          </a:xfrm>
          <a:prstGeom prst="rect">
            <a:avLst/>
          </a:prstGeom>
          <a:solidFill>
            <a:srgbClr val="FFFFFF">
              <a:alpha val="4000"/>
            </a:srgbClr>
          </a:solidFill>
          <a:ln/>
        </p:spPr>
      </p:sp>
      <p:sp>
        <p:nvSpPr>
          <p:cNvPr id="20" name="Text 16"/>
          <p:cNvSpPr/>
          <p:nvPr/>
        </p:nvSpPr>
        <p:spPr>
          <a:xfrm>
            <a:off x="785217" y="5421749"/>
            <a:ext cx="3610213" cy="553164"/>
          </a:xfrm>
          <a:prstGeom prst="rect">
            <a:avLst/>
          </a:prstGeom>
          <a:noFill/>
          <a:ln/>
        </p:spPr>
        <p:txBody>
          <a:bodyPr wrap="squar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Générer des alertes de réapprovisionnement en fonction des seuils définis</a:t>
            </a:r>
            <a:endParaRPr lang="en-US" sz="1361" dirty="0"/>
          </a:p>
        </p:txBody>
      </p:sp>
      <p:sp>
        <p:nvSpPr>
          <p:cNvPr id="21" name="Text 17"/>
          <p:cNvSpPr/>
          <p:nvPr/>
        </p:nvSpPr>
        <p:spPr>
          <a:xfrm>
            <a:off x="4748570" y="5421749"/>
            <a:ext cx="3610213" cy="553164"/>
          </a:xfrm>
          <a:prstGeom prst="rect">
            <a:avLst/>
          </a:prstGeom>
          <a:noFill/>
          <a:ln/>
        </p:spPr>
        <p:txBody>
          <a:bodyPr wrap="squar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Évolutivité et possibilité d'intégration avec d'autres systèmes</a:t>
            </a:r>
            <a:endParaRPr lang="en-US" sz="1361" dirty="0"/>
          </a:p>
        </p:txBody>
      </p:sp>
      <p:sp>
        <p:nvSpPr>
          <p:cNvPr id="22" name="Shape 18"/>
          <p:cNvSpPr/>
          <p:nvPr/>
        </p:nvSpPr>
        <p:spPr>
          <a:xfrm>
            <a:off x="612458" y="6086118"/>
            <a:ext cx="7919085" cy="775573"/>
          </a:xfrm>
          <a:prstGeom prst="rect">
            <a:avLst/>
          </a:prstGeom>
          <a:solidFill>
            <a:srgbClr val="000000">
              <a:alpha val="4000"/>
            </a:srgbClr>
          </a:solidFill>
          <a:ln/>
        </p:spPr>
      </p:sp>
      <p:sp>
        <p:nvSpPr>
          <p:cNvPr id="23" name="Text 19"/>
          <p:cNvSpPr/>
          <p:nvPr/>
        </p:nvSpPr>
        <p:spPr>
          <a:xfrm>
            <a:off x="785217" y="6197322"/>
            <a:ext cx="3610213" cy="553164"/>
          </a:xfrm>
          <a:prstGeom prst="rect">
            <a:avLst/>
          </a:prstGeom>
          <a:noFill/>
          <a:ln/>
        </p:spPr>
        <p:txBody>
          <a:bodyPr wrap="squar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Établir des prévisions de production en fonction des stocks disponibles</a:t>
            </a:r>
            <a:endParaRPr lang="en-US" sz="1361" dirty="0"/>
          </a:p>
        </p:txBody>
      </p:sp>
      <p:sp>
        <p:nvSpPr>
          <p:cNvPr id="24" name="Text 20"/>
          <p:cNvSpPr/>
          <p:nvPr/>
        </p:nvSpPr>
        <p:spPr>
          <a:xfrm>
            <a:off x="4748570" y="6197322"/>
            <a:ext cx="3610213" cy="553164"/>
          </a:xfrm>
          <a:prstGeom prst="rect">
            <a:avLst/>
          </a:prstGeom>
          <a:noFill/>
          <a:ln/>
        </p:spPr>
        <p:txBody>
          <a:bodyPr wrap="squar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Performance et temps de réponse adaptés aux besoins des utilisateurs</a:t>
            </a:r>
            <a:endParaRPr lang="en-US" sz="1361" dirty="0"/>
          </a:p>
        </p:txBody>
      </p:sp>
      <p:sp>
        <p:nvSpPr>
          <p:cNvPr id="25" name="Shape 21"/>
          <p:cNvSpPr/>
          <p:nvPr/>
        </p:nvSpPr>
        <p:spPr>
          <a:xfrm>
            <a:off x="612458" y="6861691"/>
            <a:ext cx="7919085" cy="775573"/>
          </a:xfrm>
          <a:prstGeom prst="rect">
            <a:avLst/>
          </a:prstGeom>
          <a:solidFill>
            <a:srgbClr val="FFFFFF">
              <a:alpha val="4000"/>
            </a:srgbClr>
          </a:solidFill>
          <a:ln/>
        </p:spPr>
      </p:sp>
      <p:sp>
        <p:nvSpPr>
          <p:cNvPr id="26" name="Text 22"/>
          <p:cNvSpPr/>
          <p:nvPr/>
        </p:nvSpPr>
        <p:spPr>
          <a:xfrm>
            <a:off x="785217" y="6972895"/>
            <a:ext cx="3610213" cy="553164"/>
          </a:xfrm>
          <a:prstGeom prst="rect">
            <a:avLst/>
          </a:prstGeom>
          <a:noFill/>
          <a:ln/>
        </p:spPr>
        <p:txBody>
          <a:bodyPr wrap="squar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Produire des rapports et des statistiques sur les stocks, les ventes et la rentabilité</a:t>
            </a:r>
            <a:endParaRPr lang="en-US" sz="1361" dirty="0"/>
          </a:p>
        </p:txBody>
      </p:sp>
      <p:sp>
        <p:nvSpPr>
          <p:cNvPr id="27" name="Text 23"/>
          <p:cNvSpPr/>
          <p:nvPr/>
        </p:nvSpPr>
        <p:spPr>
          <a:xfrm>
            <a:off x="4748570" y="6972895"/>
            <a:ext cx="3610213" cy="276582"/>
          </a:xfrm>
          <a:prstGeom prst="rect">
            <a:avLst/>
          </a:prstGeom>
          <a:noFill/>
          <a:ln/>
        </p:spPr>
        <p:txBody>
          <a:bodyPr wrap="none" rtlCol="0" anchor="t"/>
          <a:lstStyle/>
          <a:p>
            <a:pPr indent="0" marL="0">
              <a:lnSpc>
                <a:spcPts val="2177"/>
              </a:lnSpc>
              <a:buNone/>
            </a:pPr>
            <a:r>
              <a:rPr lang="en-US" sz="1361" dirty="0">
                <a:solidFill>
                  <a:srgbClr val="454240"/>
                </a:solidFill>
                <a:latin typeface="DM Sans" pitchFamily="34" charset="0"/>
                <a:ea typeface="DM Sans" pitchFamily="34" charset="-122"/>
                <a:cs typeface="DM Sans" pitchFamily="34" charset="-120"/>
              </a:rPr>
              <a:t>Accessibilité multi-plateforme (web, mobile)</a:t>
            </a:r>
            <a:endParaRPr lang="en-US" sz="1361" dirty="0"/>
          </a:p>
        </p:txBody>
      </p:sp>
      <p:pic>
        <p:nvPicPr>
          <p:cNvPr id="28" name="Image 2" descr="preencoded.png">
            <a:hlinkClick r:id="rId4" tooltip=""/>
          </p:cNvPr>
          <p:cNvPicPr>
            <a:picLocks noChangeAspect="1"/>
          </p:cNvPicPr>
          <p:nvPr/>
        </p:nvPicPr>
        <p:blipFill>
          <a:blip r:embed="rId3"/>
          <a:stretch>
            <a:fillRect/>
          </a:stretch>
        </p:blipFill>
        <p:spPr>
          <a:xfrm>
            <a:off x="12242153" y="7589520"/>
            <a:ext cx="2296807"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9342953"/>
          </a:xfrm>
          <a:prstGeom prst="rect">
            <a:avLst/>
          </a:prstGeom>
          <a:solidFill>
            <a:srgbClr val="FFFDFA"/>
          </a:solidFill>
          <a:ln/>
        </p:spPr>
      </p:sp>
      <p:pic>
        <p:nvPicPr>
          <p:cNvPr id="4" name="Image 1" descr="preencoded.png">    </p:cNvPr>
          <p:cNvPicPr>
            <a:picLocks noChangeAspect="1"/>
          </p:cNvPicPr>
          <p:nvPr/>
        </p:nvPicPr>
        <p:blipFill>
          <a:blip r:embed="rId2"/>
          <a:stretch>
            <a:fillRect/>
          </a:stretch>
        </p:blipFill>
        <p:spPr>
          <a:xfrm>
            <a:off x="0" y="0"/>
            <a:ext cx="5486400" cy="9342953"/>
          </a:xfrm>
          <a:prstGeom prst="rect">
            <a:avLst/>
          </a:prstGeom>
        </p:spPr>
      </p:pic>
      <p:sp>
        <p:nvSpPr>
          <p:cNvPr id="5" name="Text 1"/>
          <p:cNvSpPr/>
          <p:nvPr/>
        </p:nvSpPr>
        <p:spPr>
          <a:xfrm>
            <a:off x="6091238" y="475178"/>
            <a:ext cx="7934325" cy="1080135"/>
          </a:xfrm>
          <a:prstGeom prst="rect">
            <a:avLst/>
          </a:prstGeom>
          <a:noFill/>
          <a:ln/>
        </p:spPr>
        <p:txBody>
          <a:bodyPr wrap="square" rtlCol="0" anchor="t"/>
          <a:lstStyle/>
          <a:p>
            <a:pPr indent="0" marL="0">
              <a:lnSpc>
                <a:spcPts val="4253"/>
              </a:lnSpc>
              <a:buNone/>
            </a:pPr>
            <a:r>
              <a:rPr lang="en-US" sz="3402" dirty="0">
                <a:solidFill>
                  <a:srgbClr val="5C4E3D"/>
                </a:solidFill>
                <a:latin typeface="Libre Baskerville" pitchFamily="34" charset="0"/>
                <a:ea typeface="Libre Baskerville" pitchFamily="34" charset="-122"/>
                <a:cs typeface="Libre Baskerville" pitchFamily="34" charset="-120"/>
              </a:rPr>
              <a:t> </a:t>
            </a:r>
            <a:pPr indent="0" marL="0">
              <a:lnSpc>
                <a:spcPts val="4253"/>
              </a:lnSpc>
              <a:buNone/>
            </a:pPr>
            <a:r>
              <a:rPr lang="en-US" sz="3402" dirty="0">
                <a:solidFill>
                  <a:srgbClr val="F44444"/>
                </a:solidFill>
                <a:latin typeface="Libre Baskerville" pitchFamily="34" charset="0"/>
                <a:ea typeface="Libre Baskerville" pitchFamily="34" charset="-122"/>
                <a:cs typeface="Libre Baskerville" pitchFamily="34" charset="-120"/>
              </a:rPr>
              <a:t>Analyse Et Conception De La Solution</a:t>
            </a:r>
            <a:endParaRPr lang="en-US" sz="3402" dirty="0"/>
          </a:p>
        </p:txBody>
      </p:sp>
      <p:sp>
        <p:nvSpPr>
          <p:cNvPr id="6" name="Text 2"/>
          <p:cNvSpPr/>
          <p:nvPr/>
        </p:nvSpPr>
        <p:spPr>
          <a:xfrm>
            <a:off x="6091238" y="1814513"/>
            <a:ext cx="7934325" cy="276582"/>
          </a:xfrm>
          <a:prstGeom prst="rect">
            <a:avLst/>
          </a:prstGeom>
          <a:noFill/>
          <a:ln/>
        </p:spPr>
        <p:txBody>
          <a:bodyPr wrap="none" rtlCol="0" anchor="t"/>
          <a:lstStyle/>
          <a:p>
            <a:pPr indent="0" marL="0">
              <a:lnSpc>
                <a:spcPts val="2177"/>
              </a:lnSpc>
              <a:buNone/>
            </a:pPr>
            <a:r>
              <a:rPr lang="en-US" sz="1361" dirty="0">
                <a:solidFill>
                  <a:srgbClr val="F44444"/>
                </a:solidFill>
                <a:latin typeface="DM Sans" pitchFamily="34" charset="0"/>
                <a:ea typeface="DM Sans" pitchFamily="34" charset="-122"/>
                <a:cs typeface="DM Sans" pitchFamily="34" charset="-120"/>
              </a:rPr>
              <a:t>BAKERY MANAGER</a:t>
            </a:r>
            <a:endParaRPr lang="en-US" sz="1361" dirty="0"/>
          </a:p>
        </p:txBody>
      </p:sp>
      <p:pic>
        <p:nvPicPr>
          <p:cNvPr id="7" name="Image 2" descr="preencoded.png">    </p:cNvPr>
          <p:cNvPicPr>
            <a:picLocks noChangeAspect="1"/>
          </p:cNvPicPr>
          <p:nvPr/>
        </p:nvPicPr>
        <p:blipFill>
          <a:blip r:embed="rId3"/>
          <a:stretch>
            <a:fillRect/>
          </a:stretch>
        </p:blipFill>
        <p:spPr>
          <a:xfrm>
            <a:off x="6091238" y="2285405"/>
            <a:ext cx="864037" cy="2655094"/>
          </a:xfrm>
          <a:prstGeom prst="rect">
            <a:avLst/>
          </a:prstGeom>
        </p:spPr>
      </p:pic>
      <p:sp>
        <p:nvSpPr>
          <p:cNvPr id="8" name="Text 3"/>
          <p:cNvSpPr/>
          <p:nvPr/>
        </p:nvSpPr>
        <p:spPr>
          <a:xfrm>
            <a:off x="7214473" y="2458164"/>
            <a:ext cx="2160270" cy="269915"/>
          </a:xfrm>
          <a:prstGeom prst="rect">
            <a:avLst/>
          </a:prstGeom>
          <a:noFill/>
          <a:ln/>
        </p:spPr>
        <p:txBody>
          <a:bodyPr wrap="none" rtlCol="0" anchor="t"/>
          <a:lstStyle/>
          <a:p>
            <a:pPr algn="l" indent="0" marL="0">
              <a:lnSpc>
                <a:spcPts val="2126"/>
              </a:lnSpc>
              <a:buNone/>
            </a:pPr>
            <a:r>
              <a:rPr lang="en-US" sz="1701" dirty="0">
                <a:solidFill>
                  <a:srgbClr val="454240"/>
                </a:solidFill>
                <a:latin typeface="Libre Baskerville" pitchFamily="34" charset="0"/>
                <a:ea typeface="Libre Baskerville" pitchFamily="34" charset="-122"/>
                <a:cs typeface="Libre Baskerville" pitchFamily="34" charset="-120"/>
              </a:rPr>
              <a:t>Principe</a:t>
            </a:r>
            <a:endParaRPr lang="en-US" sz="1701" dirty="0"/>
          </a:p>
        </p:txBody>
      </p:sp>
      <p:sp>
        <p:nvSpPr>
          <p:cNvPr id="9" name="Text 4"/>
          <p:cNvSpPr/>
          <p:nvPr/>
        </p:nvSpPr>
        <p:spPr>
          <a:xfrm>
            <a:off x="7214473" y="2831663"/>
            <a:ext cx="6811089" cy="1936075"/>
          </a:xfrm>
          <a:prstGeom prst="rect">
            <a:avLst/>
          </a:prstGeom>
          <a:noFill/>
          <a:ln/>
        </p:spPr>
        <p:txBody>
          <a:bodyPr wrap="square" rtlCol="0" anchor="t"/>
          <a:lstStyle/>
          <a:p>
            <a:pPr algn="l" indent="0" marL="0">
              <a:lnSpc>
                <a:spcPts val="2177"/>
              </a:lnSpc>
              <a:buNone/>
            </a:pPr>
            <a:r>
              <a:rPr lang="en-US" sz="1361" dirty="0">
                <a:solidFill>
                  <a:srgbClr val="454240"/>
                </a:solidFill>
                <a:latin typeface="DM Sans" pitchFamily="34" charset="0"/>
                <a:ea typeface="DM Sans" pitchFamily="34" charset="-122"/>
                <a:cs typeface="DM Sans" pitchFamily="34" charset="-120"/>
              </a:rPr>
              <a:t>Une fois l'application installée sur l'ordinateur du gérant, après l'ouverture de l'application, celui-ci remplit les informations concernant la boulangerie (logo, nom, mot de passe, l'unité de vente et l'adresse de la boulangerie). Ensuite, il remplit ses propres informations (nom, prénom, email, mot de passe). Cette étape lui permet de créer le compte de la boulangerie dans la base de données (appelée "baker"). Il accède ensuite au menu principal de l'application, qui affiche tous les produits commercialisés par la boulangerie.</a:t>
            </a:r>
            <a:endParaRPr lang="en-US" sz="1361" dirty="0"/>
          </a:p>
        </p:txBody>
      </p:sp>
      <p:pic>
        <p:nvPicPr>
          <p:cNvPr id="10" name="Image 3" descr="preencoded.png">    </p:cNvPr>
          <p:cNvPicPr>
            <a:picLocks noChangeAspect="1"/>
          </p:cNvPicPr>
          <p:nvPr/>
        </p:nvPicPr>
        <p:blipFill>
          <a:blip r:embed="rId4"/>
          <a:stretch>
            <a:fillRect/>
          </a:stretch>
        </p:blipFill>
        <p:spPr>
          <a:xfrm>
            <a:off x="6091238" y="4940498"/>
            <a:ext cx="864037" cy="2101929"/>
          </a:xfrm>
          <a:prstGeom prst="rect">
            <a:avLst/>
          </a:prstGeom>
        </p:spPr>
      </p:pic>
      <p:sp>
        <p:nvSpPr>
          <p:cNvPr id="11" name="Text 5"/>
          <p:cNvSpPr/>
          <p:nvPr/>
        </p:nvSpPr>
        <p:spPr>
          <a:xfrm>
            <a:off x="7214473" y="5113258"/>
            <a:ext cx="3293983" cy="269915"/>
          </a:xfrm>
          <a:prstGeom prst="rect">
            <a:avLst/>
          </a:prstGeom>
          <a:noFill/>
          <a:ln/>
        </p:spPr>
        <p:txBody>
          <a:bodyPr wrap="none" rtlCol="0" anchor="t"/>
          <a:lstStyle/>
          <a:p>
            <a:pPr algn="l" indent="0" marL="0">
              <a:lnSpc>
                <a:spcPts val="2126"/>
              </a:lnSpc>
              <a:buNone/>
            </a:pPr>
            <a:r>
              <a:rPr lang="en-US" sz="1701" dirty="0">
                <a:solidFill>
                  <a:srgbClr val="454240"/>
                </a:solidFill>
                <a:latin typeface="Libre Baskerville" pitchFamily="34" charset="0"/>
                <a:ea typeface="Libre Baskerville" pitchFamily="34" charset="-122"/>
                <a:cs typeface="Libre Baskerville" pitchFamily="34" charset="-120"/>
              </a:rPr>
              <a:t>Analyse fonctionnelle externe</a:t>
            </a:r>
            <a:endParaRPr lang="en-US" sz="1701" dirty="0"/>
          </a:p>
        </p:txBody>
      </p:sp>
      <p:sp>
        <p:nvSpPr>
          <p:cNvPr id="12" name="Text 6"/>
          <p:cNvSpPr/>
          <p:nvPr/>
        </p:nvSpPr>
        <p:spPr>
          <a:xfrm>
            <a:off x="7214473" y="5486757"/>
            <a:ext cx="6811089" cy="1382911"/>
          </a:xfrm>
          <a:prstGeom prst="rect">
            <a:avLst/>
          </a:prstGeom>
          <a:noFill/>
          <a:ln/>
        </p:spPr>
        <p:txBody>
          <a:bodyPr wrap="square" rtlCol="0" anchor="t"/>
          <a:lstStyle/>
          <a:p>
            <a:pPr algn="l" indent="0" marL="0">
              <a:lnSpc>
                <a:spcPts val="2177"/>
              </a:lnSpc>
              <a:buNone/>
            </a:pPr>
            <a:r>
              <a:rPr lang="en-US" sz="1361" dirty="0">
                <a:solidFill>
                  <a:srgbClr val="454240"/>
                </a:solidFill>
                <a:latin typeface="DM Sans" pitchFamily="34" charset="0"/>
                <a:ea typeface="DM Sans" pitchFamily="34" charset="-122"/>
                <a:cs typeface="DM Sans" pitchFamily="34" charset="-120"/>
              </a:rPr>
              <a:t>Ici nous mettrons en exergue l'analyse fonctionnelle du système. Cette analyse fonctionnelle externe concerne l'usage de l'application c'est-à-dire les fonctions qui doivent être assuré pour une bonne communication. Nous allons donc expérimenter la méthode APTE avec ses diagrammes de Bête à Corne et de pieuvre pour réaliser cette analyse.</a:t>
            </a:r>
            <a:endParaRPr lang="en-US" sz="1361" dirty="0"/>
          </a:p>
        </p:txBody>
      </p:sp>
      <p:pic>
        <p:nvPicPr>
          <p:cNvPr id="13" name="Image 4" descr="preencoded.png">    </p:cNvPr>
          <p:cNvPicPr>
            <a:picLocks noChangeAspect="1"/>
          </p:cNvPicPr>
          <p:nvPr/>
        </p:nvPicPr>
        <p:blipFill>
          <a:blip r:embed="rId5"/>
          <a:stretch>
            <a:fillRect/>
          </a:stretch>
        </p:blipFill>
        <p:spPr>
          <a:xfrm>
            <a:off x="6091238" y="7042428"/>
            <a:ext cx="864037" cy="1825347"/>
          </a:xfrm>
          <a:prstGeom prst="rect">
            <a:avLst/>
          </a:prstGeom>
        </p:spPr>
      </p:pic>
      <p:sp>
        <p:nvSpPr>
          <p:cNvPr id="14" name="Text 7"/>
          <p:cNvSpPr/>
          <p:nvPr/>
        </p:nvSpPr>
        <p:spPr>
          <a:xfrm>
            <a:off x="7214473" y="7215188"/>
            <a:ext cx="3597831" cy="269915"/>
          </a:xfrm>
          <a:prstGeom prst="rect">
            <a:avLst/>
          </a:prstGeom>
          <a:noFill/>
          <a:ln/>
        </p:spPr>
        <p:txBody>
          <a:bodyPr wrap="none" rtlCol="0" anchor="t"/>
          <a:lstStyle/>
          <a:p>
            <a:pPr algn="l" indent="0" marL="0">
              <a:lnSpc>
                <a:spcPts val="2126"/>
              </a:lnSpc>
              <a:buNone/>
            </a:pPr>
            <a:r>
              <a:rPr lang="en-US" sz="1701" dirty="0">
                <a:solidFill>
                  <a:srgbClr val="454240"/>
                </a:solidFill>
                <a:latin typeface="Libre Baskerville" pitchFamily="34" charset="0"/>
                <a:ea typeface="Libre Baskerville" pitchFamily="34" charset="-122"/>
                <a:cs typeface="Libre Baskerville" pitchFamily="34" charset="-120"/>
              </a:rPr>
              <a:t>Explication de la méthode APTE</a:t>
            </a:r>
            <a:endParaRPr lang="en-US" sz="1701" dirty="0"/>
          </a:p>
        </p:txBody>
      </p:sp>
      <p:sp>
        <p:nvSpPr>
          <p:cNvPr id="15" name="Text 8"/>
          <p:cNvSpPr/>
          <p:nvPr/>
        </p:nvSpPr>
        <p:spPr>
          <a:xfrm>
            <a:off x="7214473" y="7588687"/>
            <a:ext cx="6811089" cy="1106329"/>
          </a:xfrm>
          <a:prstGeom prst="rect">
            <a:avLst/>
          </a:prstGeom>
          <a:noFill/>
          <a:ln/>
        </p:spPr>
        <p:txBody>
          <a:bodyPr wrap="square" rtlCol="0" anchor="t"/>
          <a:lstStyle/>
          <a:p>
            <a:pPr algn="l" indent="0" marL="0">
              <a:lnSpc>
                <a:spcPts val="2177"/>
              </a:lnSpc>
              <a:buNone/>
            </a:pPr>
            <a:r>
              <a:rPr lang="en-US" sz="1361" dirty="0">
                <a:solidFill>
                  <a:srgbClr val="454240"/>
                </a:solidFill>
                <a:latin typeface="DM Sans" pitchFamily="34" charset="0"/>
                <a:ea typeface="DM Sans" pitchFamily="34" charset="-122"/>
                <a:cs typeface="DM Sans" pitchFamily="34" charset="-120"/>
              </a:rPr>
              <a:t>La méthode APTE est une méthode universelle d'analyse fonctionnelle et d'analyse de la valeur pour la conduite de projets d'optimisation et d'innovations. C'est un outil de réflexion simple, rapide et visuel. Deux outils nécessaires sont utilisés dans cette méthode à savoir : le diagramme de bête à corne et le diagramme de pieuvre</a:t>
            </a:r>
            <a:endParaRPr lang="en-US" sz="1361" dirty="0"/>
          </a:p>
        </p:txBody>
      </p:sp>
      <p:pic>
        <p:nvPicPr>
          <p:cNvPr id="16" name="Image 5" descr="preencoded.png">
            <a:hlinkClick r:id="rId7" tooltip=""/>
          </p:cNvPr>
          <p:cNvPicPr>
            <a:picLocks noChangeAspect="1"/>
          </p:cNvPicPr>
          <p:nvPr/>
        </p:nvPicPr>
        <p:blipFill>
          <a:blip r:embed="rId6"/>
          <a:stretch>
            <a:fillRect/>
          </a:stretch>
        </p:blipFill>
        <p:spPr>
          <a:xfrm>
            <a:off x="12242153" y="7589520"/>
            <a:ext cx="2296807"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pic>
        <p:nvPicPr>
          <p:cNvPr id="4" name="Image 1" descr="preencoded.png">    </p:cNvPr>
          <p:cNvPicPr>
            <a:picLocks noChangeAspect="1"/>
          </p:cNvPicPr>
          <p:nvPr/>
        </p:nvPicPr>
        <p:blipFill>
          <a:blip r:embed="rId2"/>
          <a:stretch>
            <a:fillRect/>
          </a:stretch>
        </p:blipFill>
        <p:spPr>
          <a:xfrm>
            <a:off x="9144000" y="0"/>
            <a:ext cx="5486400" cy="8229600"/>
          </a:xfrm>
          <a:prstGeom prst="rect">
            <a:avLst/>
          </a:prstGeom>
        </p:spPr>
      </p:pic>
      <p:sp>
        <p:nvSpPr>
          <p:cNvPr id="5" name="Text 1"/>
          <p:cNvSpPr/>
          <p:nvPr/>
        </p:nvSpPr>
        <p:spPr>
          <a:xfrm>
            <a:off x="604837" y="484823"/>
            <a:ext cx="4320540" cy="540068"/>
          </a:xfrm>
          <a:prstGeom prst="rect">
            <a:avLst/>
          </a:prstGeom>
          <a:noFill/>
          <a:ln/>
        </p:spPr>
        <p:txBody>
          <a:bodyPr wrap="none" rtlCol="0" anchor="t"/>
          <a:lstStyle/>
          <a:p>
            <a:pPr indent="0" marL="0">
              <a:lnSpc>
                <a:spcPts val="4253"/>
              </a:lnSpc>
              <a:buNone/>
            </a:pPr>
            <a:r>
              <a:rPr lang="en-US" sz="3402" dirty="0">
                <a:solidFill>
                  <a:srgbClr val="F44444"/>
                </a:solidFill>
                <a:latin typeface="Libre Baskerville" pitchFamily="34" charset="0"/>
                <a:ea typeface="Libre Baskerville" pitchFamily="34" charset="-122"/>
                <a:cs typeface="Libre Baskerville" pitchFamily="34" charset="-120"/>
              </a:rPr>
              <a:t>Conception</a:t>
            </a:r>
            <a:endParaRPr lang="en-US" sz="3402" dirty="0"/>
          </a:p>
        </p:txBody>
      </p:sp>
      <p:pic>
        <p:nvPicPr>
          <p:cNvPr id="6" name="Image 2" descr="preencoded.png">    </p:cNvPr>
          <p:cNvPicPr>
            <a:picLocks noChangeAspect="1"/>
          </p:cNvPicPr>
          <p:nvPr/>
        </p:nvPicPr>
        <p:blipFill>
          <a:blip r:embed="rId3"/>
          <a:stretch>
            <a:fillRect/>
          </a:stretch>
        </p:blipFill>
        <p:spPr>
          <a:xfrm>
            <a:off x="604837" y="1284089"/>
            <a:ext cx="431959" cy="431959"/>
          </a:xfrm>
          <a:prstGeom prst="rect">
            <a:avLst/>
          </a:prstGeom>
        </p:spPr>
      </p:pic>
      <p:sp>
        <p:nvSpPr>
          <p:cNvPr id="7" name="Text 2"/>
          <p:cNvSpPr/>
          <p:nvPr/>
        </p:nvSpPr>
        <p:spPr>
          <a:xfrm>
            <a:off x="604837" y="1888808"/>
            <a:ext cx="3772138" cy="269915"/>
          </a:xfrm>
          <a:prstGeom prst="rect">
            <a:avLst/>
          </a:prstGeom>
          <a:noFill/>
          <a:ln/>
        </p:spPr>
        <p:txBody>
          <a:bodyPr wrap="none" rtlCol="0" anchor="t"/>
          <a:lstStyle/>
          <a:p>
            <a:pPr algn="l" indent="0" marL="0">
              <a:lnSpc>
                <a:spcPts val="2126"/>
              </a:lnSpc>
              <a:buNone/>
            </a:pPr>
            <a:r>
              <a:rPr lang="en-US" sz="1701" dirty="0">
                <a:solidFill>
                  <a:srgbClr val="454240"/>
                </a:solidFill>
                <a:latin typeface="Libre Baskerville" pitchFamily="34" charset="0"/>
                <a:ea typeface="Libre Baskerville" pitchFamily="34" charset="-122"/>
                <a:cs typeface="Libre Baskerville" pitchFamily="34" charset="-120"/>
              </a:rPr>
              <a:t>Cas d'utilisation d'authentification</a:t>
            </a:r>
            <a:endParaRPr lang="en-US" sz="1701" dirty="0"/>
          </a:p>
        </p:txBody>
      </p:sp>
      <p:sp>
        <p:nvSpPr>
          <p:cNvPr id="8" name="Text 3"/>
          <p:cNvSpPr/>
          <p:nvPr/>
        </p:nvSpPr>
        <p:spPr>
          <a:xfrm>
            <a:off x="604837" y="2262307"/>
            <a:ext cx="7934325" cy="553164"/>
          </a:xfrm>
          <a:prstGeom prst="rect">
            <a:avLst/>
          </a:prstGeom>
          <a:noFill/>
          <a:ln/>
        </p:spPr>
        <p:txBody>
          <a:bodyPr wrap="square" rtlCol="0" anchor="t"/>
          <a:lstStyle/>
          <a:p>
            <a:pPr algn="l" indent="0" marL="0">
              <a:lnSpc>
                <a:spcPts val="2177"/>
              </a:lnSpc>
              <a:buNone/>
            </a:pPr>
            <a:r>
              <a:rPr lang="en-US" sz="1361" dirty="0">
                <a:solidFill>
                  <a:srgbClr val="454240"/>
                </a:solidFill>
                <a:latin typeface="DM Sans" pitchFamily="34" charset="0"/>
                <a:ea typeface="DM Sans" pitchFamily="34" charset="-122"/>
                <a:cs typeface="DM Sans" pitchFamily="34" charset="-120"/>
              </a:rPr>
              <a:t>L'utilisateur doit s'authentifier pour accéder aux fonctionnalités de l'application. Il doit saisir son nom d'utilisateur et son mot de passe pour se connecter.</a:t>
            </a:r>
            <a:endParaRPr lang="en-US" sz="1361" dirty="0"/>
          </a:p>
        </p:txBody>
      </p:sp>
      <p:pic>
        <p:nvPicPr>
          <p:cNvPr id="9" name="Image 3" descr="preencoded.png">    </p:cNvPr>
          <p:cNvPicPr>
            <a:picLocks noChangeAspect="1"/>
          </p:cNvPicPr>
          <p:nvPr/>
        </p:nvPicPr>
        <p:blipFill>
          <a:blip r:embed="rId4"/>
          <a:stretch>
            <a:fillRect/>
          </a:stretch>
        </p:blipFill>
        <p:spPr>
          <a:xfrm>
            <a:off x="604837" y="3333869"/>
            <a:ext cx="431959" cy="431959"/>
          </a:xfrm>
          <a:prstGeom prst="rect">
            <a:avLst/>
          </a:prstGeom>
        </p:spPr>
      </p:pic>
      <p:sp>
        <p:nvSpPr>
          <p:cNvPr id="10" name="Text 4"/>
          <p:cNvSpPr/>
          <p:nvPr/>
        </p:nvSpPr>
        <p:spPr>
          <a:xfrm>
            <a:off x="604837" y="3938588"/>
            <a:ext cx="4009430" cy="269915"/>
          </a:xfrm>
          <a:prstGeom prst="rect">
            <a:avLst/>
          </a:prstGeom>
          <a:noFill/>
          <a:ln/>
        </p:spPr>
        <p:txBody>
          <a:bodyPr wrap="none" rtlCol="0" anchor="t"/>
          <a:lstStyle/>
          <a:p>
            <a:pPr algn="l" indent="0" marL="0">
              <a:lnSpc>
                <a:spcPts val="2126"/>
              </a:lnSpc>
              <a:buNone/>
            </a:pPr>
            <a:r>
              <a:rPr lang="en-US" sz="1701" dirty="0">
                <a:solidFill>
                  <a:srgbClr val="454240"/>
                </a:solidFill>
                <a:latin typeface="Libre Baskerville" pitchFamily="34" charset="0"/>
                <a:ea typeface="Libre Baskerville" pitchFamily="34" charset="-122"/>
                <a:cs typeface="Libre Baskerville" pitchFamily="34" charset="-120"/>
              </a:rPr>
              <a:t>Cas d'utilisation pour le/la caissier(e)</a:t>
            </a:r>
            <a:endParaRPr lang="en-US" sz="1701" dirty="0"/>
          </a:p>
        </p:txBody>
      </p:sp>
      <p:sp>
        <p:nvSpPr>
          <p:cNvPr id="11" name="Text 5"/>
          <p:cNvSpPr/>
          <p:nvPr/>
        </p:nvSpPr>
        <p:spPr>
          <a:xfrm>
            <a:off x="604837" y="4312087"/>
            <a:ext cx="7934325" cy="829747"/>
          </a:xfrm>
          <a:prstGeom prst="rect">
            <a:avLst/>
          </a:prstGeom>
          <a:noFill/>
          <a:ln/>
        </p:spPr>
        <p:txBody>
          <a:bodyPr wrap="square" rtlCol="0" anchor="t"/>
          <a:lstStyle/>
          <a:p>
            <a:pPr algn="l" indent="0" marL="0">
              <a:lnSpc>
                <a:spcPts val="2177"/>
              </a:lnSpc>
              <a:buNone/>
            </a:pPr>
            <a:r>
              <a:rPr lang="en-US" sz="1361" dirty="0">
                <a:solidFill>
                  <a:srgbClr val="454240"/>
                </a:solidFill>
                <a:latin typeface="DM Sans" pitchFamily="34" charset="0"/>
                <a:ea typeface="DM Sans" pitchFamily="34" charset="-122"/>
                <a:cs typeface="DM Sans" pitchFamily="34" charset="-120"/>
              </a:rPr>
              <a:t>Le/la caissier(e) peut établir des factures, des commandes, consulter la liste des fournisseurs et des produits, consulter la liste des commandes, modifier, effectuer ou supprimer une commande existante.</a:t>
            </a:r>
            <a:endParaRPr lang="en-US" sz="1361" dirty="0"/>
          </a:p>
        </p:txBody>
      </p:sp>
      <p:pic>
        <p:nvPicPr>
          <p:cNvPr id="12" name="Image 4" descr="preencoded.png">    </p:cNvPr>
          <p:cNvPicPr>
            <a:picLocks noChangeAspect="1"/>
          </p:cNvPicPr>
          <p:nvPr/>
        </p:nvPicPr>
        <p:blipFill>
          <a:blip r:embed="rId5"/>
          <a:stretch>
            <a:fillRect/>
          </a:stretch>
        </p:blipFill>
        <p:spPr>
          <a:xfrm>
            <a:off x="604837" y="5660231"/>
            <a:ext cx="431959" cy="431959"/>
          </a:xfrm>
          <a:prstGeom prst="rect">
            <a:avLst/>
          </a:prstGeom>
        </p:spPr>
      </p:pic>
      <p:sp>
        <p:nvSpPr>
          <p:cNvPr id="13" name="Text 6"/>
          <p:cNvSpPr/>
          <p:nvPr/>
        </p:nvSpPr>
        <p:spPr>
          <a:xfrm>
            <a:off x="604837" y="6264950"/>
            <a:ext cx="3367207" cy="269915"/>
          </a:xfrm>
          <a:prstGeom prst="rect">
            <a:avLst/>
          </a:prstGeom>
          <a:noFill/>
          <a:ln/>
        </p:spPr>
        <p:txBody>
          <a:bodyPr wrap="none" rtlCol="0" anchor="t"/>
          <a:lstStyle/>
          <a:p>
            <a:pPr algn="l" indent="0" marL="0">
              <a:lnSpc>
                <a:spcPts val="2126"/>
              </a:lnSpc>
              <a:buNone/>
            </a:pPr>
            <a:r>
              <a:rPr lang="en-US" sz="1701" dirty="0">
                <a:solidFill>
                  <a:srgbClr val="454240"/>
                </a:solidFill>
                <a:latin typeface="Libre Baskerville" pitchFamily="34" charset="0"/>
                <a:ea typeface="Libre Baskerville" pitchFamily="34" charset="-122"/>
                <a:cs typeface="Libre Baskerville" pitchFamily="34" charset="-120"/>
              </a:rPr>
              <a:t>Cas d'utilisation pour le gérant</a:t>
            </a:r>
            <a:endParaRPr lang="en-US" sz="1701" dirty="0"/>
          </a:p>
        </p:txBody>
      </p:sp>
      <p:sp>
        <p:nvSpPr>
          <p:cNvPr id="14" name="Text 7"/>
          <p:cNvSpPr/>
          <p:nvPr/>
        </p:nvSpPr>
        <p:spPr>
          <a:xfrm>
            <a:off x="604837" y="6638449"/>
            <a:ext cx="7934325" cy="1106329"/>
          </a:xfrm>
          <a:prstGeom prst="rect">
            <a:avLst/>
          </a:prstGeom>
          <a:noFill/>
          <a:ln/>
        </p:spPr>
        <p:txBody>
          <a:bodyPr wrap="square" rtlCol="0" anchor="t"/>
          <a:lstStyle/>
          <a:p>
            <a:pPr algn="l" indent="0" marL="0">
              <a:lnSpc>
                <a:spcPts val="2177"/>
              </a:lnSpc>
              <a:buNone/>
            </a:pPr>
            <a:r>
              <a:rPr lang="en-US" sz="1361" dirty="0">
                <a:solidFill>
                  <a:srgbClr val="454240"/>
                </a:solidFill>
                <a:latin typeface="DM Sans" pitchFamily="34" charset="0"/>
                <a:ea typeface="DM Sans" pitchFamily="34" charset="-122"/>
                <a:cs typeface="DM Sans" pitchFamily="34" charset="-120"/>
              </a:rPr>
              <a:t>Le gérant peut établir des factures, des commandes, consulter la liste des fournisseurs et des produits, consulter la liste des commandes, modifier, effectuer ou supprimer une commande, un fournisseur et un produit existante dans le compte de la boulangerie, faire une demande de ravitaillement, confirmer ou annuler/supprimer une demande de ravitaillement.</a:t>
            </a:r>
            <a:endParaRPr lang="en-US" sz="1361" dirty="0"/>
          </a:p>
        </p:txBody>
      </p:sp>
      <p:pic>
        <p:nvPicPr>
          <p:cNvPr id="15" name="Image 5" descr="preencoded.png">
            <a:hlinkClick r:id="rId7" tooltip=""/>
          </p:cNvPr>
          <p:cNvPicPr>
            <a:picLocks noChangeAspect="1"/>
          </p:cNvPicPr>
          <p:nvPr/>
        </p:nvPicPr>
        <p:blipFill>
          <a:blip r:embed="rId6"/>
          <a:stretch>
            <a:fillRect/>
          </a:stretch>
        </p:blipFill>
        <p:spPr>
          <a:xfrm>
            <a:off x="12242153" y="7589520"/>
            <a:ext cx="2296807"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DFA"/>
          </a:solidFill>
          <a:ln/>
        </p:spPr>
      </p:sp>
      <p:sp>
        <p:nvSpPr>
          <p:cNvPr id="4" name="Text 1"/>
          <p:cNvSpPr/>
          <p:nvPr/>
        </p:nvSpPr>
        <p:spPr>
          <a:xfrm>
            <a:off x="864037" y="3081099"/>
            <a:ext cx="11582162" cy="771525"/>
          </a:xfrm>
          <a:prstGeom prst="rect">
            <a:avLst/>
          </a:prstGeom>
          <a:noFill/>
          <a:ln/>
        </p:spPr>
        <p:txBody>
          <a:bodyPr wrap="none" rtlCol="0" anchor="t"/>
          <a:lstStyle/>
          <a:p>
            <a:pPr indent="0" marL="0">
              <a:lnSpc>
                <a:spcPts val="6075"/>
              </a:lnSpc>
              <a:buNone/>
            </a:pPr>
            <a:r>
              <a:rPr lang="en-US" sz="4860" dirty="0">
                <a:solidFill>
                  <a:srgbClr val="910D0D"/>
                </a:solidFill>
                <a:latin typeface="Libre Baskerville" pitchFamily="34" charset="0"/>
                <a:ea typeface="Libre Baskerville" pitchFamily="34" charset="-122"/>
                <a:cs typeface="Libre Baskerville" pitchFamily="34" charset="-120"/>
              </a:rPr>
              <a:t>PRESATATION DE L'APPLICATION</a:t>
            </a:r>
            <a:endParaRPr lang="en-US" sz="4860" dirty="0"/>
          </a:p>
        </p:txBody>
      </p:sp>
      <p:sp>
        <p:nvSpPr>
          <p:cNvPr id="5" name="Text 2"/>
          <p:cNvSpPr/>
          <p:nvPr/>
        </p:nvSpPr>
        <p:spPr>
          <a:xfrm>
            <a:off x="864037" y="4222909"/>
            <a:ext cx="12902327" cy="925592"/>
          </a:xfrm>
          <a:prstGeom prst="rect">
            <a:avLst/>
          </a:prstGeom>
          <a:noFill/>
          <a:ln/>
        </p:spPr>
        <p:txBody>
          <a:bodyPr wrap="square" rtlCol="0" anchor="t"/>
          <a:lstStyle/>
          <a:p>
            <a:pPr indent="0" marL="0">
              <a:lnSpc>
                <a:spcPts val="3645"/>
              </a:lnSpc>
              <a:buNone/>
            </a:pPr>
            <a:r>
              <a:rPr lang="en-US" sz="2916" dirty="0">
                <a:solidFill>
                  <a:srgbClr val="F44444"/>
                </a:solidFill>
                <a:latin typeface="Libre Baskerville" pitchFamily="34" charset="0"/>
                <a:ea typeface="Libre Baskerville" pitchFamily="34" charset="-122"/>
                <a:cs typeface="Libre Baskerville" pitchFamily="34" charset="-120"/>
              </a:rPr>
              <a:t>BAKERY MANAGER :</a:t>
            </a:r>
            <a:pPr indent="0" marL="0">
              <a:lnSpc>
                <a:spcPts val="3645"/>
              </a:lnSpc>
              <a:buNone/>
            </a:pPr>
            <a:r>
              <a:rPr lang="en-US" sz="2916" dirty="0">
                <a:solidFill>
                  <a:srgbClr val="000000"/>
                </a:solidFill>
                <a:latin typeface="Libre Baskerville" pitchFamily="34" charset="0"/>
                <a:ea typeface="Libre Baskerville" pitchFamily="34" charset="-122"/>
                <a:cs typeface="Libre Baskerville" pitchFamily="34" charset="-120"/>
              </a:rPr>
              <a:t> une application pc pour la gestion des stock simple et efficace </a:t>
            </a:r>
            <a:endParaRPr lang="en-US" sz="2916" dirty="0"/>
          </a:p>
        </p:txBody>
      </p:sp>
      <p:pic>
        <p:nvPicPr>
          <p:cNvPr id="6"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2024-07-05T11:22:21Z</dcterms:created>
  <dcterms:modified xsi:type="dcterms:W3CDTF">2024-07-05T11:22:21Z</dcterms:modified>
</cp:coreProperties>
</file>